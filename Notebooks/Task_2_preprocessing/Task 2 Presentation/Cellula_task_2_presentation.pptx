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Arimo Bold" charset="1" panose="020B0704020202020204"/>
      <p:regular r:id="rId27"/>
    </p:embeddedFont>
    <p:embeddedFont>
      <p:font typeface="Lato" charset="1" panose="020F0502020204030203"/>
      <p:regular r:id="rId28"/>
    </p:embeddedFont>
    <p:embeddedFont>
      <p:font typeface="DM Sans" charset="1" panose="00000000000000000000"/>
      <p:regular r:id="rId29"/>
    </p:embeddedFont>
    <p:embeddedFont>
      <p:font typeface="Lato Bold" charset="1" panose="020F0502020204030203"/>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notesMasters/notesMaster1.xml" Type="http://schemas.openxmlformats.org/officeDocument/2006/relationships/notesMaster"/><Relationship Id="rId25" Target="theme/theme2.xml" Type="http://schemas.openxmlformats.org/officeDocument/2006/relationships/theme"/><Relationship Id="rId26" Target="notesSlides/notesSlide1.xml" Type="http://schemas.openxmlformats.org/officeDocument/2006/relationships/note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theme/theme1.xml" Type="http://schemas.openxmlformats.org/officeDocument/2006/relationships/theme"/><Relationship Id="rId40" Target="notesSlides/notesSlide12.xml" Type="http://schemas.openxmlformats.org/officeDocument/2006/relationships/notesSlide"/><Relationship Id="rId41" Target="fonts/font41.fntdata" Type="http://schemas.openxmlformats.org/officeDocument/2006/relationships/font"/><Relationship Id="rId42" Target="notesSlides/notesSlide13.xml" Type="http://schemas.openxmlformats.org/officeDocument/2006/relationships/notesSlide"/><Relationship Id="rId43" Target="notesSlides/notesSlide14.xml" Type="http://schemas.openxmlformats.org/officeDocument/2006/relationships/notesSlide"/><Relationship Id="rId44" Target="notesSlides/notesSlide15.xml" Type="http://schemas.openxmlformats.org/officeDocument/2006/relationships/notesSlide"/><Relationship Id="rId45" Target="notesSlides/notesSlide16.xml" Type="http://schemas.openxmlformats.org/officeDocument/2006/relationships/notesSlide"/><Relationship Id="rId46" Target="notesSlides/notesSlide17.xml" Type="http://schemas.openxmlformats.org/officeDocument/2006/relationships/notesSlide"/><Relationship Id="rId47" Target="notesSlides/notesSlide18.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5.png" Type="http://schemas.openxmlformats.org/officeDocument/2006/relationships/image"/><Relationship Id="rId4"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0.png" Type="http://schemas.openxmlformats.org/officeDocument/2006/relationships/image"/><Relationship Id="rId4" Target="../media/image2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4.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7.png" Type="http://schemas.openxmlformats.org/officeDocument/2006/relationships/image"/><Relationship Id="rId4" Target="../media/image2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32.png" Type="http://schemas.openxmlformats.org/officeDocument/2006/relationships/image"/><Relationship Id="rId4" Target="../media/image33.svg" Type="http://schemas.openxmlformats.org/officeDocument/2006/relationships/image"/><Relationship Id="rId5" Target="../media/image34.png" Type="http://schemas.openxmlformats.org/officeDocument/2006/relationships/image"/><Relationship Id="rId6" Target="../media/image35.png" Type="http://schemas.openxmlformats.org/officeDocument/2006/relationships/image"/><Relationship Id="rId7" Target="../media/image36.png" Type="http://schemas.openxmlformats.org/officeDocument/2006/relationships/image"/><Relationship Id="rId8" Target="../media/image3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38.png" Type="http://schemas.openxmlformats.org/officeDocument/2006/relationships/image"/><Relationship Id="rId6" Target="../media/image39.svg" Type="http://schemas.openxmlformats.org/officeDocument/2006/relationships/image"/><Relationship Id="rId7" Target="../media/image40.jpeg" Type="http://schemas.openxmlformats.org/officeDocument/2006/relationships/image"/><Relationship Id="rId8" Target="../media/image4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3F7F8"/>
        </a:solidFill>
      </p:bgPr>
    </p:bg>
    <p:spTree>
      <p:nvGrpSpPr>
        <p:cNvPr id="1" name=""/>
        <p:cNvGrpSpPr/>
        <p:nvPr/>
      </p:nvGrpSpPr>
      <p:grpSpPr>
        <a:xfrm>
          <a:off x="0" y="0"/>
          <a:ext cx="0" cy="0"/>
          <a:chOff x="0" y="0"/>
          <a:chExt cx="0" cy="0"/>
        </a:xfrm>
      </p:grpSpPr>
      <p:sp>
        <p:nvSpPr>
          <p:cNvPr name="AutoShape 2" id="2"/>
          <p:cNvSpPr/>
          <p:nvPr/>
        </p:nvSpPr>
        <p:spPr>
          <a:xfrm rot="10408066">
            <a:off x="-2226672" y="7954075"/>
            <a:ext cx="6168143" cy="0"/>
          </a:xfrm>
          <a:prstGeom prst="line">
            <a:avLst/>
          </a:prstGeom>
          <a:ln cap="rnd" w="19050">
            <a:solidFill>
              <a:srgbClr val="45818E"/>
            </a:solidFill>
            <a:prstDash val="solid"/>
            <a:headEnd type="none" len="sm" w="sm"/>
            <a:tailEnd type="oval" len="lg" w="lg"/>
          </a:ln>
        </p:spPr>
      </p:sp>
      <p:sp>
        <p:nvSpPr>
          <p:cNvPr name="AutoShape 3" id="3"/>
          <p:cNvSpPr/>
          <p:nvPr/>
        </p:nvSpPr>
        <p:spPr>
          <a:xfrm rot="10455334">
            <a:off x="-2691680" y="9207625"/>
            <a:ext cx="6722860" cy="0"/>
          </a:xfrm>
          <a:prstGeom prst="line">
            <a:avLst/>
          </a:prstGeom>
          <a:ln cap="rnd" w="19050">
            <a:solidFill>
              <a:srgbClr val="45818E"/>
            </a:solidFill>
            <a:prstDash val="solid"/>
            <a:headEnd type="none" len="sm" w="sm"/>
            <a:tailEnd type="oval" len="lg" w="lg"/>
          </a:ln>
        </p:spPr>
      </p:sp>
      <p:sp>
        <p:nvSpPr>
          <p:cNvPr name="AutoShape 4" id="4"/>
          <p:cNvSpPr/>
          <p:nvPr/>
        </p:nvSpPr>
        <p:spPr>
          <a:xfrm rot="10296915">
            <a:off x="-1523010" y="9508675"/>
            <a:ext cx="15999920" cy="0"/>
          </a:xfrm>
          <a:prstGeom prst="line">
            <a:avLst/>
          </a:prstGeom>
          <a:ln cap="rnd" w="19050">
            <a:solidFill>
              <a:srgbClr val="45818E"/>
            </a:solidFill>
            <a:prstDash val="solid"/>
            <a:headEnd type="none" len="sm" w="sm"/>
            <a:tailEnd type="oval" len="lg" w="lg"/>
          </a:ln>
        </p:spPr>
      </p:sp>
      <p:sp>
        <p:nvSpPr>
          <p:cNvPr name="AutoShape 5" id="5"/>
          <p:cNvSpPr/>
          <p:nvPr/>
        </p:nvSpPr>
        <p:spPr>
          <a:xfrm rot="9190315">
            <a:off x="5454458" y="10519325"/>
            <a:ext cx="8037184" cy="0"/>
          </a:xfrm>
          <a:prstGeom prst="line">
            <a:avLst/>
          </a:prstGeom>
          <a:ln cap="rnd" w="19050">
            <a:solidFill>
              <a:srgbClr val="45818E"/>
            </a:solidFill>
            <a:prstDash val="solid"/>
            <a:headEnd type="none" len="sm" w="sm"/>
            <a:tailEnd type="oval" len="lg" w="lg"/>
          </a:ln>
        </p:spPr>
      </p:sp>
      <p:sp>
        <p:nvSpPr>
          <p:cNvPr name="AutoShape 6" id="6"/>
          <p:cNvSpPr/>
          <p:nvPr/>
        </p:nvSpPr>
        <p:spPr>
          <a:xfrm rot="904845">
            <a:off x="15754942" y="6600275"/>
            <a:ext cx="5360516" cy="0"/>
          </a:xfrm>
          <a:prstGeom prst="line">
            <a:avLst/>
          </a:prstGeom>
          <a:ln cap="rnd" w="19050">
            <a:solidFill>
              <a:srgbClr val="45818E"/>
            </a:solidFill>
            <a:prstDash val="solid"/>
            <a:headEnd type="none" len="sm" w="sm"/>
            <a:tailEnd type="oval" len="lg" w="lg"/>
          </a:ln>
        </p:spPr>
      </p:sp>
      <p:sp>
        <p:nvSpPr>
          <p:cNvPr name="AutoShape 7" id="7"/>
          <p:cNvSpPr/>
          <p:nvPr/>
        </p:nvSpPr>
        <p:spPr>
          <a:xfrm rot="4231306">
            <a:off x="16059243" y="7402375"/>
            <a:ext cx="2271714" cy="0"/>
          </a:xfrm>
          <a:prstGeom prst="line">
            <a:avLst/>
          </a:prstGeom>
          <a:ln cap="rnd" w="19050">
            <a:solidFill>
              <a:srgbClr val="45818E"/>
            </a:solidFill>
            <a:prstDash val="solid"/>
            <a:headEnd type="none" len="sm" w="sm"/>
            <a:tailEnd type="oval" len="lg" w="lg"/>
          </a:ln>
        </p:spPr>
      </p:sp>
      <p:sp>
        <p:nvSpPr>
          <p:cNvPr name="AutoShape 8" id="8"/>
          <p:cNvSpPr/>
          <p:nvPr/>
        </p:nvSpPr>
        <p:spPr>
          <a:xfrm rot="1176570">
            <a:off x="16429072" y="6278875"/>
            <a:ext cx="4461457" cy="0"/>
          </a:xfrm>
          <a:prstGeom prst="line">
            <a:avLst/>
          </a:prstGeom>
          <a:ln cap="rnd" w="19050">
            <a:solidFill>
              <a:srgbClr val="45818E"/>
            </a:solidFill>
            <a:prstDash val="solid"/>
            <a:headEnd type="none" len="sm" w="sm"/>
            <a:tailEnd type="oval" len="lg" w="lg"/>
          </a:ln>
        </p:spPr>
      </p:sp>
      <p:sp>
        <p:nvSpPr>
          <p:cNvPr name="Freeform 9" id="9"/>
          <p:cNvSpPr/>
          <p:nvPr/>
        </p:nvSpPr>
        <p:spPr>
          <a:xfrm flipH="false" flipV="false" rot="0">
            <a:off x="168556" y="4481746"/>
            <a:ext cx="17674890" cy="5436208"/>
          </a:xfrm>
          <a:custGeom>
            <a:avLst/>
            <a:gdLst/>
            <a:ahLst/>
            <a:cxnLst/>
            <a:rect r="r" b="b" t="t" l="l"/>
            <a:pathLst>
              <a:path h="5436208" w="17674890">
                <a:moveTo>
                  <a:pt x="0" y="0"/>
                </a:moveTo>
                <a:lnTo>
                  <a:pt x="17674890" y="0"/>
                </a:lnTo>
                <a:lnTo>
                  <a:pt x="17674890" y="5436208"/>
                </a:lnTo>
                <a:lnTo>
                  <a:pt x="0" y="54362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8406825" y="2569750"/>
            <a:ext cx="10394560" cy="2962275"/>
          </a:xfrm>
          <a:prstGeom prst="rect">
            <a:avLst/>
          </a:prstGeom>
        </p:spPr>
        <p:txBody>
          <a:bodyPr anchor="t" rtlCol="false" tIns="0" lIns="0" bIns="0" rIns="0">
            <a:spAutoFit/>
          </a:bodyPr>
          <a:lstStyle/>
          <a:p>
            <a:pPr algn="l">
              <a:lnSpc>
                <a:spcPts val="11519"/>
              </a:lnSpc>
            </a:pPr>
            <a:r>
              <a:rPr lang="en-US" b="true" sz="9600">
                <a:solidFill>
                  <a:srgbClr val="0C343D"/>
                </a:solidFill>
                <a:latin typeface="Arimo Bold"/>
                <a:ea typeface="Arimo Bold"/>
                <a:cs typeface="Arimo Bold"/>
                <a:sym typeface="Arimo Bold"/>
              </a:rPr>
              <a:t>Preprocessing Task </a:t>
            </a:r>
          </a:p>
        </p:txBody>
      </p:sp>
      <p:grpSp>
        <p:nvGrpSpPr>
          <p:cNvPr name="Group 11" id="11"/>
          <p:cNvGrpSpPr/>
          <p:nvPr/>
        </p:nvGrpSpPr>
        <p:grpSpPr>
          <a:xfrm rot="0">
            <a:off x="8315400" y="5994400"/>
            <a:ext cx="8520000" cy="731400"/>
            <a:chOff x="0" y="0"/>
            <a:chExt cx="11360000" cy="975200"/>
          </a:xfrm>
        </p:grpSpPr>
        <p:sp>
          <p:nvSpPr>
            <p:cNvPr name="Freeform 12" id="12"/>
            <p:cNvSpPr/>
            <p:nvPr/>
          </p:nvSpPr>
          <p:spPr>
            <a:xfrm flipH="false" flipV="false" rot="0">
              <a:off x="0" y="0"/>
              <a:ext cx="11360023" cy="975233"/>
            </a:xfrm>
            <a:custGeom>
              <a:avLst/>
              <a:gdLst/>
              <a:ahLst/>
              <a:cxnLst/>
              <a:rect r="r" b="b" t="t" l="l"/>
              <a:pathLst>
                <a:path h="975233" w="11360023">
                  <a:moveTo>
                    <a:pt x="0" y="0"/>
                  </a:moveTo>
                  <a:lnTo>
                    <a:pt x="11360023" y="0"/>
                  </a:lnTo>
                  <a:lnTo>
                    <a:pt x="11360023" y="975233"/>
                  </a:lnTo>
                  <a:lnTo>
                    <a:pt x="0" y="975233"/>
                  </a:lnTo>
                  <a:close/>
                </a:path>
              </a:pathLst>
            </a:custGeom>
            <a:solidFill>
              <a:srgbClr val="45818E"/>
            </a:solidFill>
          </p:spPr>
        </p:sp>
        <p:sp>
          <p:nvSpPr>
            <p:cNvPr name="TextBox 13" id="13"/>
            <p:cNvSpPr txBox="true"/>
            <p:nvPr/>
          </p:nvSpPr>
          <p:spPr>
            <a:xfrm>
              <a:off x="0" y="-66675"/>
              <a:ext cx="11360000" cy="1041875"/>
            </a:xfrm>
            <a:prstGeom prst="rect">
              <a:avLst/>
            </a:prstGeom>
          </p:spPr>
          <p:txBody>
            <a:bodyPr anchor="ctr" rtlCol="false" tIns="50800" lIns="50800" bIns="50800" rIns="50800"/>
            <a:lstStyle/>
            <a:p>
              <a:pPr algn="l">
                <a:lnSpc>
                  <a:spcPts val="4416"/>
                </a:lnSpc>
              </a:pPr>
              <a:r>
                <a:rPr lang="en-US" sz="3200">
                  <a:solidFill>
                    <a:srgbClr val="FFFFFF"/>
                  </a:solidFill>
                  <a:latin typeface="Lato"/>
                  <a:ea typeface="Lato"/>
                  <a:cs typeface="Lato"/>
                  <a:sym typeface="Lato"/>
                </a:rPr>
                <a:t>Uber Fare Prediction project </a:t>
              </a:r>
            </a:p>
          </p:txBody>
        </p:sp>
      </p:grpSp>
      <p:sp>
        <p:nvSpPr>
          <p:cNvPr name="Freeform 14" id="14"/>
          <p:cNvSpPr/>
          <p:nvPr/>
        </p:nvSpPr>
        <p:spPr>
          <a:xfrm flipH="false" flipV="false" rot="0">
            <a:off x="1426456" y="1512546"/>
            <a:ext cx="5591186" cy="7221716"/>
          </a:xfrm>
          <a:custGeom>
            <a:avLst/>
            <a:gdLst/>
            <a:ahLst/>
            <a:cxnLst/>
            <a:rect r="r" b="b" t="t" l="l"/>
            <a:pathLst>
              <a:path h="7221716" w="5591186">
                <a:moveTo>
                  <a:pt x="0" y="0"/>
                </a:moveTo>
                <a:lnTo>
                  <a:pt x="5591186" y="0"/>
                </a:lnTo>
                <a:lnTo>
                  <a:pt x="5591186" y="7221716"/>
                </a:lnTo>
                <a:lnTo>
                  <a:pt x="0" y="72217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5" id="15"/>
          <p:cNvGrpSpPr/>
          <p:nvPr/>
        </p:nvGrpSpPr>
        <p:grpSpPr>
          <a:xfrm rot="0">
            <a:off x="15016004" y="663000"/>
            <a:ext cx="2678704" cy="731400"/>
            <a:chOff x="0" y="0"/>
            <a:chExt cx="3571606" cy="975200"/>
          </a:xfrm>
        </p:grpSpPr>
        <p:sp>
          <p:nvSpPr>
            <p:cNvPr name="Freeform 16" id="16"/>
            <p:cNvSpPr/>
            <p:nvPr/>
          </p:nvSpPr>
          <p:spPr>
            <a:xfrm flipH="false" flipV="false" rot="0">
              <a:off x="0" y="0"/>
              <a:ext cx="3571629" cy="975233"/>
            </a:xfrm>
            <a:custGeom>
              <a:avLst/>
              <a:gdLst/>
              <a:ahLst/>
              <a:cxnLst/>
              <a:rect r="r" b="b" t="t" l="l"/>
              <a:pathLst>
                <a:path h="975233" w="3571629">
                  <a:moveTo>
                    <a:pt x="0" y="0"/>
                  </a:moveTo>
                  <a:lnTo>
                    <a:pt x="3571629" y="0"/>
                  </a:lnTo>
                  <a:lnTo>
                    <a:pt x="3571629" y="975233"/>
                  </a:lnTo>
                  <a:lnTo>
                    <a:pt x="0" y="975233"/>
                  </a:lnTo>
                  <a:close/>
                </a:path>
              </a:pathLst>
            </a:custGeom>
            <a:solidFill>
              <a:srgbClr val="869FB2"/>
            </a:solidFill>
          </p:spPr>
        </p:sp>
        <p:sp>
          <p:nvSpPr>
            <p:cNvPr name="TextBox 17" id="17"/>
            <p:cNvSpPr txBox="true"/>
            <p:nvPr/>
          </p:nvSpPr>
          <p:spPr>
            <a:xfrm>
              <a:off x="0" y="-66675"/>
              <a:ext cx="3571606" cy="1041875"/>
            </a:xfrm>
            <a:prstGeom prst="rect">
              <a:avLst/>
            </a:prstGeom>
          </p:spPr>
          <p:txBody>
            <a:bodyPr anchor="ctr" rtlCol="false" tIns="50800" lIns="50800" bIns="50800" rIns="50800"/>
            <a:lstStyle/>
            <a:p>
              <a:pPr algn="l">
                <a:lnSpc>
                  <a:spcPts val="4416"/>
                </a:lnSpc>
              </a:pPr>
              <a:r>
                <a:rPr lang="en-US" sz="3200">
                  <a:solidFill>
                    <a:srgbClr val="FFFFFF"/>
                  </a:solidFill>
                  <a:latin typeface="Lato"/>
                  <a:ea typeface="Lato"/>
                  <a:cs typeface="Lato"/>
                  <a:sym typeface="Lato"/>
                </a:rPr>
                <a:t>Cellula Task 2 </a:t>
              </a:r>
            </a:p>
          </p:txBody>
        </p:sp>
      </p:grpSp>
      <p:sp>
        <p:nvSpPr>
          <p:cNvPr name="TextBox 18" id="18"/>
          <p:cNvSpPr txBox="true"/>
          <p:nvPr/>
        </p:nvSpPr>
        <p:spPr>
          <a:xfrm rot="0">
            <a:off x="8315400" y="6949723"/>
            <a:ext cx="7542152" cy="452628"/>
          </a:xfrm>
          <a:prstGeom prst="rect">
            <a:avLst/>
          </a:prstGeom>
        </p:spPr>
        <p:txBody>
          <a:bodyPr anchor="t" rtlCol="false" tIns="0" lIns="0" bIns="0" rIns="0">
            <a:spAutoFit/>
          </a:bodyPr>
          <a:lstStyle/>
          <a:p>
            <a:pPr algn="l">
              <a:lnSpc>
                <a:spcPts val="3726"/>
              </a:lnSpc>
            </a:pPr>
            <a:r>
              <a:rPr lang="en-US" sz="2700">
                <a:solidFill>
                  <a:srgbClr val="134F5C"/>
                </a:solidFill>
                <a:latin typeface="DM Sans"/>
                <a:ea typeface="DM Sans"/>
                <a:cs typeface="DM Sans"/>
                <a:sym typeface="DM Sans"/>
              </a:rPr>
              <a:t>Prepared by : Ammar Mohamed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3F7F8"/>
        </a:solidFill>
      </p:bgPr>
    </p:bg>
    <p:spTree>
      <p:nvGrpSpPr>
        <p:cNvPr id="1" name=""/>
        <p:cNvGrpSpPr/>
        <p:nvPr/>
      </p:nvGrpSpPr>
      <p:grpSpPr>
        <a:xfrm>
          <a:off x="0" y="0"/>
          <a:ext cx="0" cy="0"/>
          <a:chOff x="0" y="0"/>
          <a:chExt cx="0" cy="0"/>
        </a:xfrm>
      </p:grpSpPr>
      <p:sp>
        <p:nvSpPr>
          <p:cNvPr name="Freeform 2" id="2"/>
          <p:cNvSpPr/>
          <p:nvPr/>
        </p:nvSpPr>
        <p:spPr>
          <a:xfrm flipH="false" flipV="false" rot="0">
            <a:off x="16227200" y="455000"/>
            <a:ext cx="1765198" cy="807110"/>
          </a:xfrm>
          <a:custGeom>
            <a:avLst/>
            <a:gdLst/>
            <a:ahLst/>
            <a:cxnLst/>
            <a:rect r="r" b="b" t="t" l="l"/>
            <a:pathLst>
              <a:path h="807110" w="1765198">
                <a:moveTo>
                  <a:pt x="0" y="0"/>
                </a:moveTo>
                <a:lnTo>
                  <a:pt x="1765198" y="0"/>
                </a:lnTo>
                <a:lnTo>
                  <a:pt x="1765198" y="807110"/>
                </a:lnTo>
                <a:lnTo>
                  <a:pt x="0" y="8071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a:off x="6157209" y="-3770454"/>
            <a:ext cx="15995700" cy="10211700"/>
          </a:xfrm>
          <a:prstGeom prst="line">
            <a:avLst/>
          </a:prstGeom>
          <a:ln cap="rnd" w="19050">
            <a:solidFill>
              <a:srgbClr val="45818E"/>
            </a:solidFill>
            <a:prstDash val="solid"/>
            <a:headEnd type="none" len="sm" w="sm"/>
            <a:tailEnd type="oval" len="lg" w="lg"/>
          </a:ln>
        </p:spPr>
      </p:sp>
      <p:sp>
        <p:nvSpPr>
          <p:cNvPr name="AutoShape 4" id="4"/>
          <p:cNvSpPr/>
          <p:nvPr/>
        </p:nvSpPr>
        <p:spPr>
          <a:xfrm>
            <a:off x="-2674662" y="3834834"/>
            <a:ext cx="15995700" cy="10211700"/>
          </a:xfrm>
          <a:prstGeom prst="line">
            <a:avLst/>
          </a:prstGeom>
          <a:ln cap="rnd" w="19050">
            <a:solidFill>
              <a:srgbClr val="45818E"/>
            </a:solidFill>
            <a:prstDash val="solid"/>
            <a:headEnd type="none" len="sm" w="sm"/>
            <a:tailEnd type="oval" len="lg" w="lg"/>
          </a:ln>
        </p:spPr>
      </p:sp>
      <p:sp>
        <p:nvSpPr>
          <p:cNvPr name="TextBox 5" id="5"/>
          <p:cNvSpPr txBox="true"/>
          <p:nvPr/>
        </p:nvSpPr>
        <p:spPr>
          <a:xfrm rot="0">
            <a:off x="1531425" y="962425"/>
            <a:ext cx="15225150" cy="981600"/>
          </a:xfrm>
          <a:prstGeom prst="rect">
            <a:avLst/>
          </a:prstGeom>
        </p:spPr>
        <p:txBody>
          <a:bodyPr anchor="t" rtlCol="false" tIns="0" lIns="0" bIns="0" rIns="0">
            <a:spAutoFit/>
          </a:bodyPr>
          <a:lstStyle/>
          <a:p>
            <a:pPr algn="l">
              <a:lnSpc>
                <a:spcPts val="4800"/>
              </a:lnSpc>
            </a:pPr>
            <a:r>
              <a:rPr lang="en-US" b="true" sz="4000">
                <a:solidFill>
                  <a:srgbClr val="869FB2"/>
                </a:solidFill>
                <a:latin typeface="Arimo Bold"/>
                <a:ea typeface="Arimo Bold"/>
                <a:cs typeface="Arimo Bold"/>
                <a:sym typeface="Arimo Bold"/>
              </a:rPr>
              <a:t>Table of contents</a:t>
            </a:r>
          </a:p>
        </p:txBody>
      </p:sp>
      <p:sp>
        <p:nvSpPr>
          <p:cNvPr name="TextBox 6" id="6"/>
          <p:cNvSpPr txBox="true"/>
          <p:nvPr/>
        </p:nvSpPr>
        <p:spPr>
          <a:xfrm rot="0">
            <a:off x="4063971" y="2875075"/>
            <a:ext cx="997950" cy="563400"/>
          </a:xfrm>
          <a:prstGeom prst="rect">
            <a:avLst/>
          </a:prstGeom>
        </p:spPr>
        <p:txBody>
          <a:bodyPr anchor="t" rtlCol="false" tIns="0" lIns="0" bIns="0" rIns="0">
            <a:spAutoFit/>
          </a:bodyPr>
          <a:lstStyle/>
          <a:p>
            <a:pPr algn="ctr">
              <a:lnSpc>
                <a:spcPts val="4800"/>
              </a:lnSpc>
            </a:pPr>
            <a:r>
              <a:rPr lang="en-US" b="true" sz="4000">
                <a:solidFill>
                  <a:srgbClr val="869FB2"/>
                </a:solidFill>
                <a:latin typeface="Arimo Bold"/>
                <a:ea typeface="Arimo Bold"/>
                <a:cs typeface="Arimo Bold"/>
                <a:sym typeface="Arimo Bold"/>
              </a:rPr>
              <a:t>01</a:t>
            </a:r>
          </a:p>
        </p:txBody>
      </p:sp>
      <p:sp>
        <p:nvSpPr>
          <p:cNvPr name="TextBox 7" id="7"/>
          <p:cNvSpPr txBox="true"/>
          <p:nvPr/>
        </p:nvSpPr>
        <p:spPr>
          <a:xfrm rot="0">
            <a:off x="4063971" y="4511709"/>
            <a:ext cx="997950" cy="563400"/>
          </a:xfrm>
          <a:prstGeom prst="rect">
            <a:avLst/>
          </a:prstGeom>
        </p:spPr>
        <p:txBody>
          <a:bodyPr anchor="t" rtlCol="false" tIns="0" lIns="0" bIns="0" rIns="0">
            <a:spAutoFit/>
          </a:bodyPr>
          <a:lstStyle/>
          <a:p>
            <a:pPr algn="ctr">
              <a:lnSpc>
                <a:spcPts val="4800"/>
              </a:lnSpc>
            </a:pPr>
            <a:r>
              <a:rPr lang="en-US" b="true" sz="4000">
                <a:solidFill>
                  <a:srgbClr val="869FB2"/>
                </a:solidFill>
                <a:latin typeface="Arimo Bold"/>
                <a:ea typeface="Arimo Bold"/>
                <a:cs typeface="Arimo Bold"/>
                <a:sym typeface="Arimo Bold"/>
              </a:rPr>
              <a:t>02</a:t>
            </a:r>
          </a:p>
        </p:txBody>
      </p:sp>
      <p:sp>
        <p:nvSpPr>
          <p:cNvPr name="TextBox 8" id="8"/>
          <p:cNvSpPr txBox="true"/>
          <p:nvPr/>
        </p:nvSpPr>
        <p:spPr>
          <a:xfrm rot="0">
            <a:off x="4063971" y="6148341"/>
            <a:ext cx="997950" cy="563400"/>
          </a:xfrm>
          <a:prstGeom prst="rect">
            <a:avLst/>
          </a:prstGeom>
        </p:spPr>
        <p:txBody>
          <a:bodyPr anchor="t" rtlCol="false" tIns="0" lIns="0" bIns="0" rIns="0">
            <a:spAutoFit/>
          </a:bodyPr>
          <a:lstStyle/>
          <a:p>
            <a:pPr algn="ctr">
              <a:lnSpc>
                <a:spcPts val="4800"/>
              </a:lnSpc>
            </a:pPr>
            <a:r>
              <a:rPr lang="en-US" b="true" sz="4000">
                <a:solidFill>
                  <a:srgbClr val="869FB2"/>
                </a:solidFill>
                <a:latin typeface="Arimo Bold"/>
                <a:ea typeface="Arimo Bold"/>
                <a:cs typeface="Arimo Bold"/>
                <a:sym typeface="Arimo Bold"/>
              </a:rPr>
              <a:t>03</a:t>
            </a:r>
          </a:p>
        </p:txBody>
      </p:sp>
      <p:sp>
        <p:nvSpPr>
          <p:cNvPr name="TextBox 9" id="9"/>
          <p:cNvSpPr txBox="true"/>
          <p:nvPr/>
        </p:nvSpPr>
        <p:spPr>
          <a:xfrm rot="0">
            <a:off x="5461294" y="2778632"/>
            <a:ext cx="8298150" cy="689610"/>
          </a:xfrm>
          <a:prstGeom prst="rect">
            <a:avLst/>
          </a:prstGeom>
        </p:spPr>
        <p:txBody>
          <a:bodyPr anchor="t" rtlCol="false" tIns="0" lIns="0" bIns="0" rIns="0">
            <a:spAutoFit/>
          </a:bodyPr>
          <a:lstStyle/>
          <a:p>
            <a:pPr algn="l">
              <a:lnSpc>
                <a:spcPts val="5520"/>
              </a:lnSpc>
            </a:pPr>
            <a:r>
              <a:rPr lang="en-US" b="true" sz="4000">
                <a:solidFill>
                  <a:srgbClr val="0C343D"/>
                </a:solidFill>
                <a:latin typeface="Arimo Bold"/>
                <a:ea typeface="Arimo Bold"/>
                <a:cs typeface="Arimo Bold"/>
                <a:sym typeface="Arimo Bold"/>
              </a:rPr>
              <a:t>Pr</a:t>
            </a:r>
            <a:r>
              <a:rPr lang="en-US" b="true" sz="4000">
                <a:solidFill>
                  <a:srgbClr val="0C343D"/>
                </a:solidFill>
                <a:latin typeface="Arimo Bold"/>
                <a:ea typeface="Arimo Bold"/>
                <a:cs typeface="Arimo Bold"/>
                <a:sym typeface="Arimo Bold"/>
              </a:rPr>
              <a:t>eprocessing Decisions</a:t>
            </a:r>
          </a:p>
        </p:txBody>
      </p:sp>
      <p:sp>
        <p:nvSpPr>
          <p:cNvPr name="TextBox 10" id="10"/>
          <p:cNvSpPr txBox="true"/>
          <p:nvPr/>
        </p:nvSpPr>
        <p:spPr>
          <a:xfrm rot="0">
            <a:off x="5461294" y="4453890"/>
            <a:ext cx="8298150" cy="689610"/>
          </a:xfrm>
          <a:prstGeom prst="rect">
            <a:avLst/>
          </a:prstGeom>
        </p:spPr>
        <p:txBody>
          <a:bodyPr anchor="t" rtlCol="false" tIns="0" lIns="0" bIns="0" rIns="0">
            <a:spAutoFit/>
          </a:bodyPr>
          <a:lstStyle/>
          <a:p>
            <a:pPr algn="l">
              <a:lnSpc>
                <a:spcPts val="5520"/>
              </a:lnSpc>
            </a:pPr>
            <a:r>
              <a:rPr lang="en-US" b="true" sz="4000">
                <a:solidFill>
                  <a:srgbClr val="0C343D"/>
                </a:solidFill>
                <a:latin typeface="Arimo Bold"/>
                <a:ea typeface="Arimo Bold"/>
                <a:cs typeface="Arimo Bold"/>
                <a:sym typeface="Arimo Bold"/>
              </a:rPr>
              <a:t>Pip</a:t>
            </a:r>
            <a:r>
              <a:rPr lang="en-US" b="true" sz="4000">
                <a:solidFill>
                  <a:srgbClr val="0C343D"/>
                </a:solidFill>
                <a:latin typeface="Arimo Bold"/>
                <a:ea typeface="Arimo Bold"/>
                <a:cs typeface="Arimo Bold"/>
                <a:sym typeface="Arimo Bold"/>
              </a:rPr>
              <a:t>eline &amp; Model</a:t>
            </a:r>
          </a:p>
        </p:txBody>
      </p:sp>
      <p:sp>
        <p:nvSpPr>
          <p:cNvPr name="TextBox 11" id="11"/>
          <p:cNvSpPr txBox="true"/>
          <p:nvPr/>
        </p:nvSpPr>
        <p:spPr>
          <a:xfrm rot="0">
            <a:off x="5461294" y="6022131"/>
            <a:ext cx="8298150" cy="689610"/>
          </a:xfrm>
          <a:prstGeom prst="rect">
            <a:avLst/>
          </a:prstGeom>
        </p:spPr>
        <p:txBody>
          <a:bodyPr anchor="t" rtlCol="false" tIns="0" lIns="0" bIns="0" rIns="0">
            <a:spAutoFit/>
          </a:bodyPr>
          <a:lstStyle/>
          <a:p>
            <a:pPr algn="l">
              <a:lnSpc>
                <a:spcPts val="5520"/>
              </a:lnSpc>
            </a:pPr>
            <a:r>
              <a:rPr lang="en-US" b="true" sz="4000">
                <a:solidFill>
                  <a:srgbClr val="0C343D"/>
                </a:solidFill>
                <a:latin typeface="Arimo Bold"/>
                <a:ea typeface="Arimo Bold"/>
                <a:cs typeface="Arimo Bold"/>
                <a:sym typeface="Arimo Bold"/>
              </a:rPr>
              <a:t>Results &amp; Next Ste</a:t>
            </a:r>
            <a:r>
              <a:rPr lang="en-US" b="true" sz="4000">
                <a:solidFill>
                  <a:srgbClr val="0C343D"/>
                </a:solidFill>
                <a:latin typeface="Arimo Bold"/>
                <a:ea typeface="Arimo Bold"/>
                <a:cs typeface="Arimo Bold"/>
                <a:sym typeface="Arimo Bold"/>
              </a:rPr>
              <a:t>ps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F7F8"/>
        </a:solidFill>
      </p:bgPr>
    </p:bg>
    <p:spTree>
      <p:nvGrpSpPr>
        <p:cNvPr id="1" name=""/>
        <p:cNvGrpSpPr/>
        <p:nvPr/>
      </p:nvGrpSpPr>
      <p:grpSpPr>
        <a:xfrm>
          <a:off x="0" y="0"/>
          <a:ext cx="0" cy="0"/>
          <a:chOff x="0" y="0"/>
          <a:chExt cx="0" cy="0"/>
        </a:xfrm>
      </p:grpSpPr>
      <p:sp>
        <p:nvSpPr>
          <p:cNvPr name="AutoShape 2" id="2"/>
          <p:cNvSpPr/>
          <p:nvPr/>
        </p:nvSpPr>
        <p:spPr>
          <a:xfrm rot="802226">
            <a:off x="-1119821" y="8997875"/>
            <a:ext cx="4189043" cy="0"/>
          </a:xfrm>
          <a:prstGeom prst="line">
            <a:avLst/>
          </a:prstGeom>
          <a:ln cap="rnd" w="19050">
            <a:solidFill>
              <a:srgbClr val="45818E"/>
            </a:solidFill>
            <a:prstDash val="solid"/>
            <a:headEnd type="none" len="sm" w="sm"/>
            <a:tailEnd type="oval" len="lg" w="lg"/>
          </a:ln>
        </p:spPr>
      </p:sp>
      <p:sp>
        <p:nvSpPr>
          <p:cNvPr name="AutoShape 3" id="3"/>
          <p:cNvSpPr/>
          <p:nvPr/>
        </p:nvSpPr>
        <p:spPr>
          <a:xfrm>
            <a:off x="-3032991" y="6565686"/>
            <a:ext cx="7352700" cy="455100"/>
          </a:xfrm>
          <a:prstGeom prst="line">
            <a:avLst/>
          </a:prstGeom>
          <a:ln cap="rnd" w="19050">
            <a:solidFill>
              <a:srgbClr val="45818E"/>
            </a:solidFill>
            <a:prstDash val="solid"/>
            <a:headEnd type="none" len="sm" w="sm"/>
            <a:tailEnd type="oval" len="lg" w="lg"/>
          </a:ln>
        </p:spPr>
      </p:sp>
      <p:sp>
        <p:nvSpPr>
          <p:cNvPr name="TextBox 4" id="4"/>
          <p:cNvSpPr txBox="true"/>
          <p:nvPr/>
        </p:nvSpPr>
        <p:spPr>
          <a:xfrm rot="0">
            <a:off x="2108498" y="4026759"/>
            <a:ext cx="6947011" cy="1933575"/>
          </a:xfrm>
          <a:prstGeom prst="rect">
            <a:avLst/>
          </a:prstGeom>
        </p:spPr>
        <p:txBody>
          <a:bodyPr anchor="t" rtlCol="false" tIns="0" lIns="0" bIns="0" rIns="0">
            <a:spAutoFit/>
          </a:bodyPr>
          <a:lstStyle/>
          <a:p>
            <a:pPr algn="r">
              <a:lnSpc>
                <a:spcPts val="7535"/>
              </a:lnSpc>
            </a:pPr>
            <a:r>
              <a:rPr lang="en-US" b="true" sz="6279">
                <a:solidFill>
                  <a:srgbClr val="869FB2"/>
                </a:solidFill>
                <a:latin typeface="Arimo Bold"/>
                <a:ea typeface="Arimo Bold"/>
                <a:cs typeface="Arimo Bold"/>
                <a:sym typeface="Arimo Bold"/>
              </a:rPr>
              <a:t>Preprocessing  Decisions </a:t>
            </a:r>
          </a:p>
        </p:txBody>
      </p:sp>
      <p:grpSp>
        <p:nvGrpSpPr>
          <p:cNvPr name="Group 5" id="5"/>
          <p:cNvGrpSpPr/>
          <p:nvPr/>
        </p:nvGrpSpPr>
        <p:grpSpPr>
          <a:xfrm rot="0">
            <a:off x="1227804" y="7688254"/>
            <a:ext cx="9781260" cy="834796"/>
            <a:chOff x="0" y="0"/>
            <a:chExt cx="13041680" cy="1113061"/>
          </a:xfrm>
        </p:grpSpPr>
        <p:sp>
          <p:nvSpPr>
            <p:cNvPr name="Freeform 6" id="6"/>
            <p:cNvSpPr/>
            <p:nvPr/>
          </p:nvSpPr>
          <p:spPr>
            <a:xfrm flipH="false" flipV="false" rot="0">
              <a:off x="0" y="0"/>
              <a:ext cx="13041637" cy="1113094"/>
            </a:xfrm>
            <a:custGeom>
              <a:avLst/>
              <a:gdLst/>
              <a:ahLst/>
              <a:cxnLst/>
              <a:rect r="r" b="b" t="t" l="l"/>
              <a:pathLst>
                <a:path h="1113094" w="13041637">
                  <a:moveTo>
                    <a:pt x="0" y="0"/>
                  </a:moveTo>
                  <a:lnTo>
                    <a:pt x="13041637" y="0"/>
                  </a:lnTo>
                  <a:lnTo>
                    <a:pt x="13041637" y="1113094"/>
                  </a:lnTo>
                  <a:lnTo>
                    <a:pt x="0" y="1113094"/>
                  </a:lnTo>
                  <a:close/>
                </a:path>
              </a:pathLst>
            </a:custGeom>
            <a:solidFill>
              <a:srgbClr val="45818E"/>
            </a:solidFill>
          </p:spPr>
        </p:sp>
        <p:sp>
          <p:nvSpPr>
            <p:cNvPr name="TextBox 7" id="7"/>
            <p:cNvSpPr txBox="true"/>
            <p:nvPr/>
          </p:nvSpPr>
          <p:spPr>
            <a:xfrm>
              <a:off x="0" y="-76200"/>
              <a:ext cx="13041680" cy="1189261"/>
            </a:xfrm>
            <a:prstGeom prst="rect">
              <a:avLst/>
            </a:prstGeom>
          </p:spPr>
          <p:txBody>
            <a:bodyPr anchor="ctr" rtlCol="false" tIns="50800" lIns="50800" bIns="50800" rIns="50800"/>
            <a:lstStyle/>
            <a:p>
              <a:pPr algn="r">
                <a:lnSpc>
                  <a:spcPts val="5105"/>
                </a:lnSpc>
              </a:pPr>
              <a:r>
                <a:rPr lang="en-US" sz="3699">
                  <a:solidFill>
                    <a:srgbClr val="FFFFFF"/>
                  </a:solidFill>
                  <a:latin typeface="Lato"/>
                  <a:ea typeface="Lato"/>
                  <a:cs typeface="Lato"/>
                  <a:sym typeface="Lato"/>
                </a:rPr>
                <a:t>Handling Outliers + Feature Eng + data spliting</a:t>
              </a:r>
            </a:p>
          </p:txBody>
        </p:sp>
      </p:grpSp>
      <p:sp>
        <p:nvSpPr>
          <p:cNvPr name="TextBox 8" id="8"/>
          <p:cNvSpPr txBox="true"/>
          <p:nvPr/>
        </p:nvSpPr>
        <p:spPr>
          <a:xfrm rot="0">
            <a:off x="1078714" y="3554970"/>
            <a:ext cx="2640750" cy="1664175"/>
          </a:xfrm>
          <a:prstGeom prst="rect">
            <a:avLst/>
          </a:prstGeom>
        </p:spPr>
        <p:txBody>
          <a:bodyPr anchor="t" rtlCol="false" tIns="0" lIns="0" bIns="0" rIns="0">
            <a:spAutoFit/>
          </a:bodyPr>
          <a:lstStyle/>
          <a:p>
            <a:pPr algn="ctr">
              <a:lnSpc>
                <a:spcPts val="14400"/>
              </a:lnSpc>
            </a:pPr>
            <a:r>
              <a:rPr lang="en-US" b="true" sz="12000">
                <a:gradFill>
                  <a:gsLst>
                    <a:gs pos="0">
                      <a:srgbClr val="0097B2">
                        <a:alpha val="100000"/>
                      </a:srgbClr>
                    </a:gs>
                    <a:gs pos="100000">
                      <a:srgbClr val="7ED957">
                        <a:alpha val="100000"/>
                      </a:srgbClr>
                    </a:gs>
                  </a:gsLst>
                  <a:lin ang="0"/>
                </a:gradFill>
                <a:latin typeface="Arimo Bold"/>
                <a:ea typeface="Arimo Bold"/>
                <a:cs typeface="Arimo Bold"/>
                <a:sym typeface="Arimo Bold"/>
              </a:rPr>
              <a:t>01</a:t>
            </a:r>
          </a:p>
        </p:txBody>
      </p:sp>
      <p:sp>
        <p:nvSpPr>
          <p:cNvPr name="Freeform 9" id="9"/>
          <p:cNvSpPr/>
          <p:nvPr/>
        </p:nvSpPr>
        <p:spPr>
          <a:xfrm flipH="false" flipV="false" rot="0">
            <a:off x="11009064" y="2804060"/>
            <a:ext cx="6482738" cy="6312548"/>
          </a:xfrm>
          <a:custGeom>
            <a:avLst/>
            <a:gdLst/>
            <a:ahLst/>
            <a:cxnLst/>
            <a:rect r="r" b="b" t="t" l="l"/>
            <a:pathLst>
              <a:path h="6312548" w="6482738">
                <a:moveTo>
                  <a:pt x="0" y="0"/>
                </a:moveTo>
                <a:lnTo>
                  <a:pt x="6482738" y="0"/>
                </a:lnTo>
                <a:lnTo>
                  <a:pt x="6482738" y="6312548"/>
                </a:lnTo>
                <a:lnTo>
                  <a:pt x="0" y="63125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F7F8"/>
        </a:solidFill>
      </p:bgPr>
    </p:bg>
    <p:spTree>
      <p:nvGrpSpPr>
        <p:cNvPr id="1" name=""/>
        <p:cNvGrpSpPr/>
        <p:nvPr/>
      </p:nvGrpSpPr>
      <p:grpSpPr>
        <a:xfrm>
          <a:off x="0" y="0"/>
          <a:ext cx="0" cy="0"/>
          <a:chOff x="0" y="0"/>
          <a:chExt cx="0" cy="0"/>
        </a:xfrm>
      </p:grpSpPr>
      <p:sp>
        <p:nvSpPr>
          <p:cNvPr name="AutoShape 2" id="2"/>
          <p:cNvSpPr/>
          <p:nvPr/>
        </p:nvSpPr>
        <p:spPr>
          <a:xfrm rot="9633491">
            <a:off x="1148362" y="9497175"/>
            <a:ext cx="5906276" cy="0"/>
          </a:xfrm>
          <a:prstGeom prst="line">
            <a:avLst/>
          </a:prstGeom>
          <a:ln cap="rnd" w="19050">
            <a:solidFill>
              <a:srgbClr val="45818E"/>
            </a:solidFill>
            <a:prstDash val="solid"/>
            <a:headEnd type="none" len="sm" w="sm"/>
            <a:tailEnd type="oval" len="lg" w="lg"/>
          </a:ln>
        </p:spPr>
      </p:sp>
      <p:sp>
        <p:nvSpPr>
          <p:cNvPr name="AutoShape 3" id="3"/>
          <p:cNvSpPr/>
          <p:nvPr/>
        </p:nvSpPr>
        <p:spPr>
          <a:xfrm rot="10408066">
            <a:off x="14596978" y="8137675"/>
            <a:ext cx="6168143" cy="0"/>
          </a:xfrm>
          <a:prstGeom prst="line">
            <a:avLst/>
          </a:prstGeom>
          <a:ln cap="rnd" w="19050">
            <a:solidFill>
              <a:srgbClr val="45818E"/>
            </a:solidFill>
            <a:prstDash val="solid"/>
            <a:headEnd type="none" len="sm" w="sm"/>
            <a:tailEnd type="oval" len="lg" w="lg"/>
          </a:ln>
        </p:spPr>
      </p:sp>
      <p:sp>
        <p:nvSpPr>
          <p:cNvPr name="AutoShape 4" id="4"/>
          <p:cNvSpPr/>
          <p:nvPr/>
        </p:nvSpPr>
        <p:spPr>
          <a:xfrm rot="10455334">
            <a:off x="14131970" y="9391225"/>
            <a:ext cx="6722860" cy="0"/>
          </a:xfrm>
          <a:prstGeom prst="line">
            <a:avLst/>
          </a:prstGeom>
          <a:ln cap="rnd" w="19050">
            <a:solidFill>
              <a:srgbClr val="45818E"/>
            </a:solidFill>
            <a:prstDash val="solid"/>
            <a:headEnd type="none" len="sm" w="sm"/>
            <a:tailEnd type="oval" len="lg" w="lg"/>
          </a:ln>
        </p:spPr>
      </p:sp>
      <p:sp>
        <p:nvSpPr>
          <p:cNvPr name="AutoShape 5" id="5"/>
          <p:cNvSpPr/>
          <p:nvPr/>
        </p:nvSpPr>
        <p:spPr>
          <a:xfrm rot="10274518">
            <a:off x="-729097" y="9044825"/>
            <a:ext cx="11792195" cy="0"/>
          </a:xfrm>
          <a:prstGeom prst="line">
            <a:avLst/>
          </a:prstGeom>
          <a:ln cap="rnd" w="19050">
            <a:solidFill>
              <a:srgbClr val="45818E"/>
            </a:solidFill>
            <a:prstDash val="solid"/>
            <a:headEnd type="none" len="sm" w="sm"/>
            <a:tailEnd type="oval" len="lg" w="lg"/>
          </a:ln>
        </p:spPr>
      </p:sp>
      <p:sp>
        <p:nvSpPr>
          <p:cNvPr name="AutoShape 6" id="6"/>
          <p:cNvSpPr/>
          <p:nvPr/>
        </p:nvSpPr>
        <p:spPr>
          <a:xfrm rot="1101336">
            <a:off x="-755634" y="331625"/>
            <a:ext cx="3973469" cy="0"/>
          </a:xfrm>
          <a:prstGeom prst="line">
            <a:avLst/>
          </a:prstGeom>
          <a:ln cap="rnd" w="19050">
            <a:solidFill>
              <a:srgbClr val="45818E"/>
            </a:solidFill>
            <a:prstDash val="solid"/>
            <a:headEnd type="none" len="sm" w="sm"/>
            <a:tailEnd type="oval" len="lg" w="lg"/>
          </a:ln>
        </p:spPr>
      </p:sp>
      <p:sp>
        <p:nvSpPr>
          <p:cNvPr name="Freeform 7" id="7"/>
          <p:cNvSpPr/>
          <p:nvPr/>
        </p:nvSpPr>
        <p:spPr>
          <a:xfrm flipH="false" flipV="false" rot="0">
            <a:off x="358486" y="3543782"/>
            <a:ext cx="800898" cy="5866290"/>
          </a:xfrm>
          <a:custGeom>
            <a:avLst/>
            <a:gdLst/>
            <a:ahLst/>
            <a:cxnLst/>
            <a:rect r="r" b="b" t="t" l="l"/>
            <a:pathLst>
              <a:path h="5866290" w="800898">
                <a:moveTo>
                  <a:pt x="0" y="0"/>
                </a:moveTo>
                <a:lnTo>
                  <a:pt x="800898" y="0"/>
                </a:lnTo>
                <a:lnTo>
                  <a:pt x="800898" y="5866290"/>
                </a:lnTo>
                <a:lnTo>
                  <a:pt x="0" y="58662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531425" y="952900"/>
            <a:ext cx="15225150" cy="942975"/>
          </a:xfrm>
          <a:prstGeom prst="rect">
            <a:avLst/>
          </a:prstGeom>
        </p:spPr>
        <p:txBody>
          <a:bodyPr anchor="t" rtlCol="false" tIns="0" lIns="0" bIns="0" rIns="0">
            <a:spAutoFit/>
          </a:bodyPr>
          <a:lstStyle/>
          <a:p>
            <a:pPr algn="l">
              <a:lnSpc>
                <a:spcPts val="7200"/>
              </a:lnSpc>
            </a:pPr>
            <a:r>
              <a:rPr lang="en-US" b="true" sz="6000">
                <a:solidFill>
                  <a:srgbClr val="0C343D"/>
                </a:solidFill>
                <a:latin typeface="Arimo Bold"/>
                <a:ea typeface="Arimo Bold"/>
                <a:cs typeface="Arimo Bold"/>
                <a:sym typeface="Arimo Bold"/>
              </a:rPr>
              <a:t>Handling Outliers Manually  </a:t>
            </a:r>
          </a:p>
        </p:txBody>
      </p:sp>
      <p:sp>
        <p:nvSpPr>
          <p:cNvPr name="AutoShape 9" id="9"/>
          <p:cNvSpPr/>
          <p:nvPr/>
        </p:nvSpPr>
        <p:spPr>
          <a:xfrm>
            <a:off x="-2242875" y="-293540"/>
            <a:ext cx="3771300" cy="1251300"/>
          </a:xfrm>
          <a:prstGeom prst="line">
            <a:avLst/>
          </a:prstGeom>
          <a:ln cap="rnd" w="19050">
            <a:solidFill>
              <a:srgbClr val="45818E"/>
            </a:solidFill>
            <a:prstDash val="solid"/>
            <a:headEnd type="none" len="sm" w="sm"/>
            <a:tailEnd type="oval" len="lg" w="lg"/>
          </a:ln>
        </p:spPr>
      </p:sp>
      <p:sp>
        <p:nvSpPr>
          <p:cNvPr name="Freeform 10" id="10"/>
          <p:cNvSpPr/>
          <p:nvPr/>
        </p:nvSpPr>
        <p:spPr>
          <a:xfrm flipH="false" flipV="false" rot="0">
            <a:off x="11148200" y="2199891"/>
            <a:ext cx="6226613" cy="6550915"/>
          </a:xfrm>
          <a:custGeom>
            <a:avLst/>
            <a:gdLst/>
            <a:ahLst/>
            <a:cxnLst/>
            <a:rect r="r" b="b" t="t" l="l"/>
            <a:pathLst>
              <a:path h="6550915" w="6226613">
                <a:moveTo>
                  <a:pt x="0" y="0"/>
                </a:moveTo>
                <a:lnTo>
                  <a:pt x="6226613" y="0"/>
                </a:lnTo>
                <a:lnTo>
                  <a:pt x="6226613" y="6550916"/>
                </a:lnTo>
                <a:lnTo>
                  <a:pt x="0" y="6550916"/>
                </a:lnTo>
                <a:lnTo>
                  <a:pt x="0" y="0"/>
                </a:lnTo>
                <a:close/>
              </a:path>
            </a:pathLst>
          </a:custGeom>
          <a:blipFill>
            <a:blip r:embed="rId5"/>
            <a:stretch>
              <a:fillRect l="0" t="0" r="0" b="0"/>
            </a:stretch>
          </a:blipFill>
        </p:spPr>
      </p:sp>
      <p:sp>
        <p:nvSpPr>
          <p:cNvPr name="Freeform 11" id="11"/>
          <p:cNvSpPr/>
          <p:nvPr/>
        </p:nvSpPr>
        <p:spPr>
          <a:xfrm flipH="false" flipV="false" rot="0">
            <a:off x="1531425" y="2991303"/>
            <a:ext cx="9462925" cy="4558781"/>
          </a:xfrm>
          <a:custGeom>
            <a:avLst/>
            <a:gdLst/>
            <a:ahLst/>
            <a:cxnLst/>
            <a:rect r="r" b="b" t="t" l="l"/>
            <a:pathLst>
              <a:path h="4558781" w="9462925">
                <a:moveTo>
                  <a:pt x="0" y="0"/>
                </a:moveTo>
                <a:lnTo>
                  <a:pt x="9462925" y="0"/>
                </a:lnTo>
                <a:lnTo>
                  <a:pt x="9462925" y="4558782"/>
                </a:lnTo>
                <a:lnTo>
                  <a:pt x="0" y="4558782"/>
                </a:lnTo>
                <a:lnTo>
                  <a:pt x="0" y="0"/>
                </a:lnTo>
                <a:close/>
              </a:path>
            </a:pathLst>
          </a:custGeom>
          <a:blipFill>
            <a:blip r:embed="rId6"/>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F7F8"/>
        </a:solidFill>
      </p:bgPr>
    </p:bg>
    <p:spTree>
      <p:nvGrpSpPr>
        <p:cNvPr id="1" name=""/>
        <p:cNvGrpSpPr/>
        <p:nvPr/>
      </p:nvGrpSpPr>
      <p:grpSpPr>
        <a:xfrm>
          <a:off x="0" y="0"/>
          <a:ext cx="0" cy="0"/>
          <a:chOff x="0" y="0"/>
          <a:chExt cx="0" cy="0"/>
        </a:xfrm>
      </p:grpSpPr>
      <p:sp>
        <p:nvSpPr>
          <p:cNvPr name="AutoShape 2" id="2"/>
          <p:cNvSpPr/>
          <p:nvPr/>
        </p:nvSpPr>
        <p:spPr>
          <a:xfrm rot="9633491">
            <a:off x="1148362" y="9497175"/>
            <a:ext cx="5906276" cy="0"/>
          </a:xfrm>
          <a:prstGeom prst="line">
            <a:avLst/>
          </a:prstGeom>
          <a:ln cap="rnd" w="19050">
            <a:solidFill>
              <a:srgbClr val="45818E"/>
            </a:solidFill>
            <a:prstDash val="solid"/>
            <a:headEnd type="none" len="sm" w="sm"/>
            <a:tailEnd type="oval" len="lg" w="lg"/>
          </a:ln>
        </p:spPr>
      </p:sp>
      <p:sp>
        <p:nvSpPr>
          <p:cNvPr name="AutoShape 3" id="3"/>
          <p:cNvSpPr/>
          <p:nvPr/>
        </p:nvSpPr>
        <p:spPr>
          <a:xfrm rot="10408066">
            <a:off x="14596978" y="8137675"/>
            <a:ext cx="6168143" cy="0"/>
          </a:xfrm>
          <a:prstGeom prst="line">
            <a:avLst/>
          </a:prstGeom>
          <a:ln cap="rnd" w="19050">
            <a:solidFill>
              <a:srgbClr val="45818E"/>
            </a:solidFill>
            <a:prstDash val="solid"/>
            <a:headEnd type="none" len="sm" w="sm"/>
            <a:tailEnd type="oval" len="lg" w="lg"/>
          </a:ln>
        </p:spPr>
      </p:sp>
      <p:sp>
        <p:nvSpPr>
          <p:cNvPr name="AutoShape 4" id="4"/>
          <p:cNvSpPr/>
          <p:nvPr/>
        </p:nvSpPr>
        <p:spPr>
          <a:xfrm rot="10455334">
            <a:off x="14131970" y="9391225"/>
            <a:ext cx="6722860" cy="0"/>
          </a:xfrm>
          <a:prstGeom prst="line">
            <a:avLst/>
          </a:prstGeom>
          <a:ln cap="rnd" w="19050">
            <a:solidFill>
              <a:srgbClr val="45818E"/>
            </a:solidFill>
            <a:prstDash val="solid"/>
            <a:headEnd type="none" len="sm" w="sm"/>
            <a:tailEnd type="oval" len="lg" w="lg"/>
          </a:ln>
        </p:spPr>
      </p:sp>
      <p:sp>
        <p:nvSpPr>
          <p:cNvPr name="AutoShape 5" id="5"/>
          <p:cNvSpPr/>
          <p:nvPr/>
        </p:nvSpPr>
        <p:spPr>
          <a:xfrm rot="10274518">
            <a:off x="-729097" y="9044825"/>
            <a:ext cx="11792195" cy="0"/>
          </a:xfrm>
          <a:prstGeom prst="line">
            <a:avLst/>
          </a:prstGeom>
          <a:ln cap="rnd" w="19050">
            <a:solidFill>
              <a:srgbClr val="45818E"/>
            </a:solidFill>
            <a:prstDash val="solid"/>
            <a:headEnd type="none" len="sm" w="sm"/>
            <a:tailEnd type="oval" len="lg" w="lg"/>
          </a:ln>
        </p:spPr>
      </p:sp>
      <p:sp>
        <p:nvSpPr>
          <p:cNvPr name="AutoShape 6" id="6"/>
          <p:cNvSpPr/>
          <p:nvPr/>
        </p:nvSpPr>
        <p:spPr>
          <a:xfrm rot="1101336">
            <a:off x="-755634" y="331625"/>
            <a:ext cx="3973469" cy="0"/>
          </a:xfrm>
          <a:prstGeom prst="line">
            <a:avLst/>
          </a:prstGeom>
          <a:ln cap="rnd" w="19050">
            <a:solidFill>
              <a:srgbClr val="45818E"/>
            </a:solidFill>
            <a:prstDash val="solid"/>
            <a:headEnd type="none" len="sm" w="sm"/>
            <a:tailEnd type="oval" len="lg" w="lg"/>
          </a:ln>
        </p:spPr>
      </p:sp>
      <p:sp>
        <p:nvSpPr>
          <p:cNvPr name="Freeform 7" id="7"/>
          <p:cNvSpPr/>
          <p:nvPr/>
        </p:nvSpPr>
        <p:spPr>
          <a:xfrm flipH="false" flipV="false" rot="0">
            <a:off x="358486" y="3543782"/>
            <a:ext cx="800898" cy="5866290"/>
          </a:xfrm>
          <a:custGeom>
            <a:avLst/>
            <a:gdLst/>
            <a:ahLst/>
            <a:cxnLst/>
            <a:rect r="r" b="b" t="t" l="l"/>
            <a:pathLst>
              <a:path h="5866290" w="800898">
                <a:moveTo>
                  <a:pt x="0" y="0"/>
                </a:moveTo>
                <a:lnTo>
                  <a:pt x="800898" y="0"/>
                </a:lnTo>
                <a:lnTo>
                  <a:pt x="800898" y="5866290"/>
                </a:lnTo>
                <a:lnTo>
                  <a:pt x="0" y="58662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8" id="8"/>
          <p:cNvSpPr/>
          <p:nvPr/>
        </p:nvSpPr>
        <p:spPr>
          <a:xfrm>
            <a:off x="-2242875" y="-293540"/>
            <a:ext cx="3771300" cy="1251300"/>
          </a:xfrm>
          <a:prstGeom prst="line">
            <a:avLst/>
          </a:prstGeom>
          <a:ln cap="rnd" w="19050">
            <a:solidFill>
              <a:srgbClr val="45818E"/>
            </a:solidFill>
            <a:prstDash val="solid"/>
            <a:headEnd type="none" len="sm" w="sm"/>
            <a:tailEnd type="oval" len="lg" w="lg"/>
          </a:ln>
        </p:spPr>
      </p:sp>
      <p:sp>
        <p:nvSpPr>
          <p:cNvPr name="Freeform 9" id="9"/>
          <p:cNvSpPr/>
          <p:nvPr/>
        </p:nvSpPr>
        <p:spPr>
          <a:xfrm flipH="false" flipV="false" rot="0">
            <a:off x="8984521" y="2824814"/>
            <a:ext cx="8555521" cy="4637372"/>
          </a:xfrm>
          <a:custGeom>
            <a:avLst/>
            <a:gdLst/>
            <a:ahLst/>
            <a:cxnLst/>
            <a:rect r="r" b="b" t="t" l="l"/>
            <a:pathLst>
              <a:path h="4637372" w="8555521">
                <a:moveTo>
                  <a:pt x="0" y="0"/>
                </a:moveTo>
                <a:lnTo>
                  <a:pt x="8555521" y="0"/>
                </a:lnTo>
                <a:lnTo>
                  <a:pt x="8555521" y="4637372"/>
                </a:lnTo>
                <a:lnTo>
                  <a:pt x="0" y="4637372"/>
                </a:lnTo>
                <a:lnTo>
                  <a:pt x="0" y="0"/>
                </a:lnTo>
                <a:close/>
              </a:path>
            </a:pathLst>
          </a:custGeom>
          <a:blipFill>
            <a:blip r:embed="rId5"/>
            <a:stretch>
              <a:fillRect l="0" t="0" r="0" b="0"/>
            </a:stretch>
          </a:blipFill>
        </p:spPr>
      </p:sp>
      <p:sp>
        <p:nvSpPr>
          <p:cNvPr name="TextBox 10" id="10"/>
          <p:cNvSpPr txBox="true"/>
          <p:nvPr/>
        </p:nvSpPr>
        <p:spPr>
          <a:xfrm rot="0">
            <a:off x="1531425" y="952900"/>
            <a:ext cx="15225150" cy="942975"/>
          </a:xfrm>
          <a:prstGeom prst="rect">
            <a:avLst/>
          </a:prstGeom>
        </p:spPr>
        <p:txBody>
          <a:bodyPr anchor="t" rtlCol="false" tIns="0" lIns="0" bIns="0" rIns="0">
            <a:spAutoFit/>
          </a:bodyPr>
          <a:lstStyle/>
          <a:p>
            <a:pPr algn="l">
              <a:lnSpc>
                <a:spcPts val="7200"/>
              </a:lnSpc>
            </a:pPr>
            <a:r>
              <a:rPr lang="en-US" b="true" sz="6000">
                <a:solidFill>
                  <a:srgbClr val="0C343D"/>
                </a:solidFill>
                <a:latin typeface="Arimo Bold"/>
                <a:ea typeface="Arimo Bold"/>
                <a:cs typeface="Arimo Bold"/>
                <a:sym typeface="Arimo Bold"/>
              </a:rPr>
              <a:t>Chronological ordering and split  </a:t>
            </a:r>
          </a:p>
        </p:txBody>
      </p:sp>
      <p:sp>
        <p:nvSpPr>
          <p:cNvPr name="TextBox 11" id="11"/>
          <p:cNvSpPr txBox="true"/>
          <p:nvPr/>
        </p:nvSpPr>
        <p:spPr>
          <a:xfrm rot="0">
            <a:off x="2086275" y="3240125"/>
            <a:ext cx="6454350" cy="3879342"/>
          </a:xfrm>
          <a:prstGeom prst="rect">
            <a:avLst/>
          </a:prstGeom>
        </p:spPr>
        <p:txBody>
          <a:bodyPr anchor="t" rtlCol="false" tIns="0" lIns="0" bIns="0" rIns="0">
            <a:spAutoFit/>
          </a:bodyPr>
          <a:lstStyle/>
          <a:p>
            <a:pPr algn="l">
              <a:lnSpc>
                <a:spcPts val="3863"/>
              </a:lnSpc>
            </a:pPr>
            <a:r>
              <a:rPr lang="en-US" sz="2799">
                <a:solidFill>
                  <a:srgbClr val="0C343D"/>
                </a:solidFill>
                <a:latin typeface="Lato"/>
                <a:ea typeface="Lato"/>
                <a:cs typeface="Lato"/>
                <a:sym typeface="Lato"/>
              </a:rPr>
              <a:t>W</a:t>
            </a:r>
            <a:r>
              <a:rPr lang="en-US" sz="2799">
                <a:solidFill>
                  <a:srgbClr val="0C343D"/>
                </a:solidFill>
                <a:latin typeface="Lato"/>
                <a:ea typeface="Lato"/>
                <a:cs typeface="Lato"/>
                <a:sym typeface="Lato"/>
              </a:rPr>
              <a:t>e used a chronological train-test split to simulate a real-world deployment scenario. The model is trained on historical taxi rides and evaluated on future rides it has never seen before. This reflects how the system would operate in production, where predictions are always made on new incoming data.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F7F8"/>
        </a:solidFill>
      </p:bgPr>
    </p:bg>
    <p:spTree>
      <p:nvGrpSpPr>
        <p:cNvPr id="1" name=""/>
        <p:cNvGrpSpPr/>
        <p:nvPr/>
      </p:nvGrpSpPr>
      <p:grpSpPr>
        <a:xfrm>
          <a:off x="0" y="0"/>
          <a:ext cx="0" cy="0"/>
          <a:chOff x="0" y="0"/>
          <a:chExt cx="0" cy="0"/>
        </a:xfrm>
      </p:grpSpPr>
      <p:sp>
        <p:nvSpPr>
          <p:cNvPr name="Freeform 2" id="2"/>
          <p:cNvSpPr/>
          <p:nvPr/>
        </p:nvSpPr>
        <p:spPr>
          <a:xfrm flipH="false" flipV="false" rot="0">
            <a:off x="257632" y="921701"/>
            <a:ext cx="1842754" cy="888211"/>
          </a:xfrm>
          <a:custGeom>
            <a:avLst/>
            <a:gdLst/>
            <a:ahLst/>
            <a:cxnLst/>
            <a:rect r="r" b="b" t="t" l="l"/>
            <a:pathLst>
              <a:path h="888211" w="1842754">
                <a:moveTo>
                  <a:pt x="0" y="0"/>
                </a:moveTo>
                <a:lnTo>
                  <a:pt x="1842755" y="0"/>
                </a:lnTo>
                <a:lnTo>
                  <a:pt x="1842755" y="888211"/>
                </a:lnTo>
                <a:lnTo>
                  <a:pt x="0" y="8882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rot="325287">
            <a:off x="7456295" y="9131025"/>
            <a:ext cx="11268910" cy="0"/>
          </a:xfrm>
          <a:prstGeom prst="line">
            <a:avLst/>
          </a:prstGeom>
          <a:ln cap="rnd" w="19050">
            <a:solidFill>
              <a:srgbClr val="45818E"/>
            </a:solidFill>
            <a:prstDash val="solid"/>
            <a:headEnd type="none" len="sm" w="sm"/>
            <a:tailEnd type="oval" len="lg" w="lg"/>
          </a:ln>
        </p:spPr>
      </p:sp>
      <p:sp>
        <p:nvSpPr>
          <p:cNvPr name="AutoShape 4" id="4"/>
          <p:cNvSpPr/>
          <p:nvPr/>
        </p:nvSpPr>
        <p:spPr>
          <a:xfrm rot="10734295">
            <a:off x="4825111" y="9411075"/>
            <a:ext cx="14111877" cy="0"/>
          </a:xfrm>
          <a:prstGeom prst="line">
            <a:avLst/>
          </a:prstGeom>
          <a:ln cap="rnd" w="19050">
            <a:solidFill>
              <a:srgbClr val="45818E"/>
            </a:solidFill>
            <a:prstDash val="solid"/>
            <a:headEnd type="none" len="sm" w="sm"/>
            <a:tailEnd type="oval" len="lg" w="lg"/>
          </a:ln>
        </p:spPr>
      </p:sp>
      <p:sp>
        <p:nvSpPr>
          <p:cNvPr name="Freeform 5" id="5"/>
          <p:cNvSpPr/>
          <p:nvPr/>
        </p:nvSpPr>
        <p:spPr>
          <a:xfrm flipH="false" flipV="false" rot="0">
            <a:off x="143733" y="2479615"/>
            <a:ext cx="9365333" cy="5834320"/>
          </a:xfrm>
          <a:custGeom>
            <a:avLst/>
            <a:gdLst/>
            <a:ahLst/>
            <a:cxnLst/>
            <a:rect r="r" b="b" t="t" l="l"/>
            <a:pathLst>
              <a:path h="5834320" w="9365333">
                <a:moveTo>
                  <a:pt x="0" y="0"/>
                </a:moveTo>
                <a:lnTo>
                  <a:pt x="9365334" y="0"/>
                </a:lnTo>
                <a:lnTo>
                  <a:pt x="9365334" y="5834320"/>
                </a:lnTo>
                <a:lnTo>
                  <a:pt x="0" y="5834320"/>
                </a:lnTo>
                <a:lnTo>
                  <a:pt x="0" y="0"/>
                </a:lnTo>
                <a:close/>
              </a:path>
            </a:pathLst>
          </a:custGeom>
          <a:blipFill>
            <a:blip r:embed="rId5"/>
            <a:stretch>
              <a:fillRect l="0" t="0" r="0" b="0"/>
            </a:stretch>
          </a:blipFill>
        </p:spPr>
      </p:sp>
      <p:sp>
        <p:nvSpPr>
          <p:cNvPr name="TextBox 6" id="6"/>
          <p:cNvSpPr txBox="true"/>
          <p:nvPr/>
        </p:nvSpPr>
        <p:spPr>
          <a:xfrm rot="0">
            <a:off x="9904775" y="2486025"/>
            <a:ext cx="6865350" cy="1857375"/>
          </a:xfrm>
          <a:prstGeom prst="rect">
            <a:avLst/>
          </a:prstGeom>
        </p:spPr>
        <p:txBody>
          <a:bodyPr anchor="t" rtlCol="false" tIns="0" lIns="0" bIns="0" rIns="0">
            <a:spAutoFit/>
          </a:bodyPr>
          <a:lstStyle/>
          <a:p>
            <a:pPr algn="l">
              <a:lnSpc>
                <a:spcPts val="7200"/>
              </a:lnSpc>
            </a:pPr>
            <a:r>
              <a:rPr lang="en-US" b="true" sz="6000">
                <a:solidFill>
                  <a:srgbClr val="0C343D"/>
                </a:solidFill>
                <a:latin typeface="Arimo Bold"/>
                <a:ea typeface="Arimo Bold"/>
                <a:cs typeface="Arimo Bold"/>
                <a:sym typeface="Arimo Bold"/>
              </a:rPr>
              <a:t>This Chart</a:t>
            </a:r>
            <a:r>
              <a:rPr lang="en-US" b="true" sz="6000">
                <a:solidFill>
                  <a:srgbClr val="0C343D"/>
                </a:solidFill>
                <a:latin typeface="Arimo Bold"/>
                <a:ea typeface="Arimo Bold"/>
                <a:cs typeface="Arimo Bold"/>
                <a:sym typeface="Arimo Bold"/>
              </a:rPr>
              <a:t> shows that :</a:t>
            </a:r>
          </a:p>
        </p:txBody>
      </p:sp>
      <p:sp>
        <p:nvSpPr>
          <p:cNvPr name="TextBox 7" id="7"/>
          <p:cNvSpPr txBox="true"/>
          <p:nvPr/>
        </p:nvSpPr>
        <p:spPr>
          <a:xfrm rot="0">
            <a:off x="9904775" y="4745700"/>
            <a:ext cx="6865350" cy="3393567"/>
          </a:xfrm>
          <a:prstGeom prst="rect">
            <a:avLst/>
          </a:prstGeom>
        </p:spPr>
        <p:txBody>
          <a:bodyPr anchor="t" rtlCol="false" tIns="0" lIns="0" bIns="0" rIns="0">
            <a:spAutoFit/>
          </a:bodyPr>
          <a:lstStyle/>
          <a:p>
            <a:pPr algn="l">
              <a:lnSpc>
                <a:spcPts val="3863"/>
              </a:lnSpc>
            </a:pPr>
            <a:r>
              <a:rPr lang="en-US" sz="2799">
                <a:solidFill>
                  <a:srgbClr val="0C343D"/>
                </a:solidFill>
                <a:latin typeface="Lato"/>
                <a:ea typeface="Lato"/>
                <a:cs typeface="Lato"/>
                <a:sym typeface="Lato"/>
              </a:rPr>
              <a:t>even after spliting according to year we maintian balance between train and test data wrt fair amount which protects our model from overfitting to a specific time period and failing to generalize when predicting fares from a different range of dates.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3F7F8"/>
        </a:solidFill>
      </p:bgPr>
    </p:bg>
    <p:spTree>
      <p:nvGrpSpPr>
        <p:cNvPr id="1" name=""/>
        <p:cNvGrpSpPr/>
        <p:nvPr/>
      </p:nvGrpSpPr>
      <p:grpSpPr>
        <a:xfrm>
          <a:off x="0" y="0"/>
          <a:ext cx="0" cy="0"/>
          <a:chOff x="0" y="0"/>
          <a:chExt cx="0" cy="0"/>
        </a:xfrm>
      </p:grpSpPr>
      <p:sp>
        <p:nvSpPr>
          <p:cNvPr name="AutoShape 2" id="2"/>
          <p:cNvSpPr/>
          <p:nvPr/>
        </p:nvSpPr>
        <p:spPr>
          <a:xfrm rot="9633491">
            <a:off x="1148362" y="9497175"/>
            <a:ext cx="5906276" cy="0"/>
          </a:xfrm>
          <a:prstGeom prst="line">
            <a:avLst/>
          </a:prstGeom>
          <a:ln cap="rnd" w="19050">
            <a:solidFill>
              <a:srgbClr val="45818E"/>
            </a:solidFill>
            <a:prstDash val="solid"/>
            <a:headEnd type="none" len="sm" w="sm"/>
            <a:tailEnd type="oval" len="lg" w="lg"/>
          </a:ln>
        </p:spPr>
      </p:sp>
      <p:sp>
        <p:nvSpPr>
          <p:cNvPr name="AutoShape 3" id="3"/>
          <p:cNvSpPr/>
          <p:nvPr/>
        </p:nvSpPr>
        <p:spPr>
          <a:xfrm rot="10408066">
            <a:off x="14596978" y="8137675"/>
            <a:ext cx="6168143" cy="0"/>
          </a:xfrm>
          <a:prstGeom prst="line">
            <a:avLst/>
          </a:prstGeom>
          <a:ln cap="rnd" w="19050">
            <a:solidFill>
              <a:srgbClr val="45818E"/>
            </a:solidFill>
            <a:prstDash val="solid"/>
            <a:headEnd type="none" len="sm" w="sm"/>
            <a:tailEnd type="oval" len="lg" w="lg"/>
          </a:ln>
        </p:spPr>
      </p:sp>
      <p:sp>
        <p:nvSpPr>
          <p:cNvPr name="AutoShape 4" id="4"/>
          <p:cNvSpPr/>
          <p:nvPr/>
        </p:nvSpPr>
        <p:spPr>
          <a:xfrm rot="10455334">
            <a:off x="14131970" y="9391225"/>
            <a:ext cx="6722860" cy="0"/>
          </a:xfrm>
          <a:prstGeom prst="line">
            <a:avLst/>
          </a:prstGeom>
          <a:ln cap="rnd" w="19050">
            <a:solidFill>
              <a:srgbClr val="45818E"/>
            </a:solidFill>
            <a:prstDash val="solid"/>
            <a:headEnd type="none" len="sm" w="sm"/>
            <a:tailEnd type="oval" len="lg" w="lg"/>
          </a:ln>
        </p:spPr>
      </p:sp>
      <p:sp>
        <p:nvSpPr>
          <p:cNvPr name="AutoShape 5" id="5"/>
          <p:cNvSpPr/>
          <p:nvPr/>
        </p:nvSpPr>
        <p:spPr>
          <a:xfrm rot="10274518">
            <a:off x="-729097" y="9044825"/>
            <a:ext cx="11792195" cy="0"/>
          </a:xfrm>
          <a:prstGeom prst="line">
            <a:avLst/>
          </a:prstGeom>
          <a:ln cap="rnd" w="19050">
            <a:solidFill>
              <a:srgbClr val="45818E"/>
            </a:solidFill>
            <a:prstDash val="solid"/>
            <a:headEnd type="none" len="sm" w="sm"/>
            <a:tailEnd type="oval" len="lg" w="lg"/>
          </a:ln>
        </p:spPr>
      </p:sp>
      <p:sp>
        <p:nvSpPr>
          <p:cNvPr name="AutoShape 6" id="6"/>
          <p:cNvSpPr/>
          <p:nvPr/>
        </p:nvSpPr>
        <p:spPr>
          <a:xfrm rot="1101336">
            <a:off x="-755634" y="331625"/>
            <a:ext cx="3973469" cy="0"/>
          </a:xfrm>
          <a:prstGeom prst="line">
            <a:avLst/>
          </a:prstGeom>
          <a:ln cap="rnd" w="19050">
            <a:solidFill>
              <a:srgbClr val="45818E"/>
            </a:solidFill>
            <a:prstDash val="solid"/>
            <a:headEnd type="none" len="sm" w="sm"/>
            <a:tailEnd type="oval" len="lg" w="lg"/>
          </a:ln>
        </p:spPr>
      </p:sp>
      <p:sp>
        <p:nvSpPr>
          <p:cNvPr name="Freeform 7" id="7"/>
          <p:cNvSpPr/>
          <p:nvPr/>
        </p:nvSpPr>
        <p:spPr>
          <a:xfrm flipH="false" flipV="false" rot="0">
            <a:off x="358486" y="3543782"/>
            <a:ext cx="800898" cy="5866290"/>
          </a:xfrm>
          <a:custGeom>
            <a:avLst/>
            <a:gdLst/>
            <a:ahLst/>
            <a:cxnLst/>
            <a:rect r="r" b="b" t="t" l="l"/>
            <a:pathLst>
              <a:path h="5866290" w="800898">
                <a:moveTo>
                  <a:pt x="0" y="0"/>
                </a:moveTo>
                <a:lnTo>
                  <a:pt x="800898" y="0"/>
                </a:lnTo>
                <a:lnTo>
                  <a:pt x="800898" y="5866290"/>
                </a:lnTo>
                <a:lnTo>
                  <a:pt x="0" y="58662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8" id="8"/>
          <p:cNvSpPr/>
          <p:nvPr/>
        </p:nvSpPr>
        <p:spPr>
          <a:xfrm>
            <a:off x="-2242875" y="-293540"/>
            <a:ext cx="3771300" cy="1251300"/>
          </a:xfrm>
          <a:prstGeom prst="line">
            <a:avLst/>
          </a:prstGeom>
          <a:ln cap="rnd" w="19050">
            <a:solidFill>
              <a:srgbClr val="45818E"/>
            </a:solidFill>
            <a:prstDash val="solid"/>
            <a:headEnd type="none" len="sm" w="sm"/>
            <a:tailEnd type="oval" len="lg" w="lg"/>
          </a:ln>
        </p:spPr>
      </p:sp>
      <p:sp>
        <p:nvSpPr>
          <p:cNvPr name="Freeform 9" id="9"/>
          <p:cNvSpPr/>
          <p:nvPr/>
        </p:nvSpPr>
        <p:spPr>
          <a:xfrm flipH="false" flipV="false" rot="0">
            <a:off x="2330994" y="2964531"/>
            <a:ext cx="13850747" cy="3193964"/>
          </a:xfrm>
          <a:custGeom>
            <a:avLst/>
            <a:gdLst/>
            <a:ahLst/>
            <a:cxnLst/>
            <a:rect r="r" b="b" t="t" l="l"/>
            <a:pathLst>
              <a:path h="3193964" w="13850747">
                <a:moveTo>
                  <a:pt x="0" y="0"/>
                </a:moveTo>
                <a:lnTo>
                  <a:pt x="13850747" y="0"/>
                </a:lnTo>
                <a:lnTo>
                  <a:pt x="13850747" y="3193964"/>
                </a:lnTo>
                <a:lnTo>
                  <a:pt x="0" y="3193964"/>
                </a:lnTo>
                <a:lnTo>
                  <a:pt x="0" y="0"/>
                </a:lnTo>
                <a:close/>
              </a:path>
            </a:pathLst>
          </a:custGeom>
          <a:blipFill>
            <a:blip r:embed="rId5"/>
            <a:stretch>
              <a:fillRect l="0" t="0" r="0" b="0"/>
            </a:stretch>
          </a:blipFill>
        </p:spPr>
      </p:sp>
      <p:sp>
        <p:nvSpPr>
          <p:cNvPr name="Freeform 10" id="10"/>
          <p:cNvSpPr/>
          <p:nvPr/>
        </p:nvSpPr>
        <p:spPr>
          <a:xfrm flipH="false" flipV="false" rot="0">
            <a:off x="2218626" y="6606170"/>
            <a:ext cx="13850747" cy="810830"/>
          </a:xfrm>
          <a:custGeom>
            <a:avLst/>
            <a:gdLst/>
            <a:ahLst/>
            <a:cxnLst/>
            <a:rect r="r" b="b" t="t" l="l"/>
            <a:pathLst>
              <a:path h="810830" w="13850747">
                <a:moveTo>
                  <a:pt x="0" y="0"/>
                </a:moveTo>
                <a:lnTo>
                  <a:pt x="13850748" y="0"/>
                </a:lnTo>
                <a:lnTo>
                  <a:pt x="13850748" y="810830"/>
                </a:lnTo>
                <a:lnTo>
                  <a:pt x="0" y="810830"/>
                </a:lnTo>
                <a:lnTo>
                  <a:pt x="0" y="0"/>
                </a:lnTo>
                <a:close/>
              </a:path>
            </a:pathLst>
          </a:custGeom>
          <a:blipFill>
            <a:blip r:embed="rId6"/>
            <a:stretch>
              <a:fillRect l="0" t="0" r="0" b="0"/>
            </a:stretch>
          </a:blipFill>
        </p:spPr>
      </p:sp>
      <p:sp>
        <p:nvSpPr>
          <p:cNvPr name="TextBox 11" id="11"/>
          <p:cNvSpPr txBox="true"/>
          <p:nvPr/>
        </p:nvSpPr>
        <p:spPr>
          <a:xfrm rot="0">
            <a:off x="1531425" y="952900"/>
            <a:ext cx="15225150" cy="942975"/>
          </a:xfrm>
          <a:prstGeom prst="rect">
            <a:avLst/>
          </a:prstGeom>
        </p:spPr>
        <p:txBody>
          <a:bodyPr anchor="t" rtlCol="false" tIns="0" lIns="0" bIns="0" rIns="0">
            <a:spAutoFit/>
          </a:bodyPr>
          <a:lstStyle/>
          <a:p>
            <a:pPr algn="l">
              <a:lnSpc>
                <a:spcPts val="7200"/>
              </a:lnSpc>
            </a:pPr>
            <a:r>
              <a:rPr lang="en-US" b="true" sz="6000">
                <a:solidFill>
                  <a:srgbClr val="0C343D"/>
                </a:solidFill>
                <a:latin typeface="Arimo Bold"/>
                <a:ea typeface="Arimo Bold"/>
                <a:cs typeface="Arimo Bold"/>
                <a:sym typeface="Arimo Bold"/>
              </a:rPr>
              <a:t>Feature Selection    </a:t>
            </a:r>
          </a:p>
        </p:txBody>
      </p:sp>
      <p:sp>
        <p:nvSpPr>
          <p:cNvPr name="TextBox 12" id="12"/>
          <p:cNvSpPr txBox="true"/>
          <p:nvPr/>
        </p:nvSpPr>
        <p:spPr>
          <a:xfrm rot="0">
            <a:off x="1531425" y="2035604"/>
            <a:ext cx="6454350" cy="478917"/>
          </a:xfrm>
          <a:prstGeom prst="rect">
            <a:avLst/>
          </a:prstGeom>
        </p:spPr>
        <p:txBody>
          <a:bodyPr anchor="t" rtlCol="false" tIns="0" lIns="0" bIns="0" rIns="0">
            <a:spAutoFit/>
          </a:bodyPr>
          <a:lstStyle/>
          <a:p>
            <a:pPr algn="l">
              <a:lnSpc>
                <a:spcPts val="3863"/>
              </a:lnSpc>
            </a:pPr>
            <a:r>
              <a:rPr lang="en-US" sz="2799">
                <a:solidFill>
                  <a:srgbClr val="0C343D"/>
                </a:solidFill>
                <a:latin typeface="Lato"/>
                <a:ea typeface="Lato"/>
                <a:cs typeface="Lato"/>
                <a:sym typeface="Lato"/>
              </a:rPr>
              <a:t>Dropped Columns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7F8"/>
        </a:solidFill>
      </p:bgPr>
    </p:bg>
    <p:spTree>
      <p:nvGrpSpPr>
        <p:cNvPr id="1" name=""/>
        <p:cNvGrpSpPr/>
        <p:nvPr/>
      </p:nvGrpSpPr>
      <p:grpSpPr>
        <a:xfrm>
          <a:off x="0" y="0"/>
          <a:ext cx="0" cy="0"/>
          <a:chOff x="0" y="0"/>
          <a:chExt cx="0" cy="0"/>
        </a:xfrm>
      </p:grpSpPr>
      <p:sp>
        <p:nvSpPr>
          <p:cNvPr name="AutoShape 2" id="2"/>
          <p:cNvSpPr/>
          <p:nvPr/>
        </p:nvSpPr>
        <p:spPr>
          <a:xfrm rot="9633491">
            <a:off x="1148362" y="9497175"/>
            <a:ext cx="5906276" cy="0"/>
          </a:xfrm>
          <a:prstGeom prst="line">
            <a:avLst/>
          </a:prstGeom>
          <a:ln cap="rnd" w="19050">
            <a:solidFill>
              <a:srgbClr val="45818E"/>
            </a:solidFill>
            <a:prstDash val="solid"/>
            <a:headEnd type="none" len="sm" w="sm"/>
            <a:tailEnd type="oval" len="lg" w="lg"/>
          </a:ln>
        </p:spPr>
      </p:sp>
      <p:sp>
        <p:nvSpPr>
          <p:cNvPr name="AutoShape 3" id="3"/>
          <p:cNvSpPr/>
          <p:nvPr/>
        </p:nvSpPr>
        <p:spPr>
          <a:xfrm rot="10408066">
            <a:off x="14596978" y="8137675"/>
            <a:ext cx="6168143" cy="0"/>
          </a:xfrm>
          <a:prstGeom prst="line">
            <a:avLst/>
          </a:prstGeom>
          <a:ln cap="rnd" w="19050">
            <a:solidFill>
              <a:srgbClr val="45818E"/>
            </a:solidFill>
            <a:prstDash val="solid"/>
            <a:headEnd type="none" len="sm" w="sm"/>
            <a:tailEnd type="oval" len="lg" w="lg"/>
          </a:ln>
        </p:spPr>
      </p:sp>
      <p:sp>
        <p:nvSpPr>
          <p:cNvPr name="AutoShape 4" id="4"/>
          <p:cNvSpPr/>
          <p:nvPr/>
        </p:nvSpPr>
        <p:spPr>
          <a:xfrm rot="10455334">
            <a:off x="14131970" y="9391225"/>
            <a:ext cx="6722860" cy="0"/>
          </a:xfrm>
          <a:prstGeom prst="line">
            <a:avLst/>
          </a:prstGeom>
          <a:ln cap="rnd" w="19050">
            <a:solidFill>
              <a:srgbClr val="45818E"/>
            </a:solidFill>
            <a:prstDash val="solid"/>
            <a:headEnd type="none" len="sm" w="sm"/>
            <a:tailEnd type="oval" len="lg" w="lg"/>
          </a:ln>
        </p:spPr>
      </p:sp>
      <p:sp>
        <p:nvSpPr>
          <p:cNvPr name="AutoShape 5" id="5"/>
          <p:cNvSpPr/>
          <p:nvPr/>
        </p:nvSpPr>
        <p:spPr>
          <a:xfrm rot="10274518">
            <a:off x="-729097" y="9044825"/>
            <a:ext cx="11792195" cy="0"/>
          </a:xfrm>
          <a:prstGeom prst="line">
            <a:avLst/>
          </a:prstGeom>
          <a:ln cap="rnd" w="19050">
            <a:solidFill>
              <a:srgbClr val="45818E"/>
            </a:solidFill>
            <a:prstDash val="solid"/>
            <a:headEnd type="none" len="sm" w="sm"/>
            <a:tailEnd type="oval" len="lg" w="lg"/>
          </a:ln>
        </p:spPr>
      </p:sp>
      <p:sp>
        <p:nvSpPr>
          <p:cNvPr name="AutoShape 6" id="6"/>
          <p:cNvSpPr/>
          <p:nvPr/>
        </p:nvSpPr>
        <p:spPr>
          <a:xfrm rot="1101336">
            <a:off x="-755634" y="331625"/>
            <a:ext cx="3973469" cy="0"/>
          </a:xfrm>
          <a:prstGeom prst="line">
            <a:avLst/>
          </a:prstGeom>
          <a:ln cap="rnd" w="19050">
            <a:solidFill>
              <a:srgbClr val="45818E"/>
            </a:solidFill>
            <a:prstDash val="solid"/>
            <a:headEnd type="none" len="sm" w="sm"/>
            <a:tailEnd type="oval" len="lg" w="lg"/>
          </a:ln>
        </p:spPr>
      </p:sp>
      <p:sp>
        <p:nvSpPr>
          <p:cNvPr name="Freeform 7" id="7"/>
          <p:cNvSpPr/>
          <p:nvPr/>
        </p:nvSpPr>
        <p:spPr>
          <a:xfrm flipH="false" flipV="false" rot="0">
            <a:off x="358486" y="3543782"/>
            <a:ext cx="800898" cy="5866290"/>
          </a:xfrm>
          <a:custGeom>
            <a:avLst/>
            <a:gdLst/>
            <a:ahLst/>
            <a:cxnLst/>
            <a:rect r="r" b="b" t="t" l="l"/>
            <a:pathLst>
              <a:path h="5866290" w="800898">
                <a:moveTo>
                  <a:pt x="0" y="0"/>
                </a:moveTo>
                <a:lnTo>
                  <a:pt x="800898" y="0"/>
                </a:lnTo>
                <a:lnTo>
                  <a:pt x="800898" y="5866290"/>
                </a:lnTo>
                <a:lnTo>
                  <a:pt x="0" y="58662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8" id="8"/>
          <p:cNvSpPr/>
          <p:nvPr/>
        </p:nvSpPr>
        <p:spPr>
          <a:xfrm>
            <a:off x="-2242875" y="-293540"/>
            <a:ext cx="3771300" cy="1251300"/>
          </a:xfrm>
          <a:prstGeom prst="line">
            <a:avLst/>
          </a:prstGeom>
          <a:ln cap="rnd" w="19050">
            <a:solidFill>
              <a:srgbClr val="45818E"/>
            </a:solidFill>
            <a:prstDash val="solid"/>
            <a:headEnd type="none" len="sm" w="sm"/>
            <a:tailEnd type="oval" len="lg" w="lg"/>
          </a:ln>
        </p:spPr>
      </p:sp>
      <p:sp>
        <p:nvSpPr>
          <p:cNvPr name="Freeform 9" id="9"/>
          <p:cNvSpPr/>
          <p:nvPr/>
        </p:nvSpPr>
        <p:spPr>
          <a:xfrm flipH="false" flipV="false" rot="0">
            <a:off x="8860857" y="3968781"/>
            <a:ext cx="8959609" cy="1745200"/>
          </a:xfrm>
          <a:custGeom>
            <a:avLst/>
            <a:gdLst/>
            <a:ahLst/>
            <a:cxnLst/>
            <a:rect r="r" b="b" t="t" l="l"/>
            <a:pathLst>
              <a:path h="1745200" w="8959609">
                <a:moveTo>
                  <a:pt x="0" y="0"/>
                </a:moveTo>
                <a:lnTo>
                  <a:pt x="8959608" y="0"/>
                </a:lnTo>
                <a:lnTo>
                  <a:pt x="8959608" y="1745200"/>
                </a:lnTo>
                <a:lnTo>
                  <a:pt x="0" y="1745200"/>
                </a:lnTo>
                <a:lnTo>
                  <a:pt x="0" y="0"/>
                </a:lnTo>
                <a:close/>
              </a:path>
            </a:pathLst>
          </a:custGeom>
          <a:blipFill>
            <a:blip r:embed="rId5"/>
            <a:stretch>
              <a:fillRect l="0" t="0" r="0" b="0"/>
            </a:stretch>
          </a:blipFill>
        </p:spPr>
      </p:sp>
      <p:sp>
        <p:nvSpPr>
          <p:cNvPr name="TextBox 10" id="10"/>
          <p:cNvSpPr txBox="true"/>
          <p:nvPr/>
        </p:nvSpPr>
        <p:spPr>
          <a:xfrm rot="0">
            <a:off x="1531425" y="1213340"/>
            <a:ext cx="15225150" cy="942975"/>
          </a:xfrm>
          <a:prstGeom prst="rect">
            <a:avLst/>
          </a:prstGeom>
        </p:spPr>
        <p:txBody>
          <a:bodyPr anchor="t" rtlCol="false" tIns="0" lIns="0" bIns="0" rIns="0">
            <a:spAutoFit/>
          </a:bodyPr>
          <a:lstStyle/>
          <a:p>
            <a:pPr algn="l">
              <a:lnSpc>
                <a:spcPts val="7200"/>
              </a:lnSpc>
            </a:pPr>
            <a:r>
              <a:rPr lang="en-US" b="true" sz="6000">
                <a:solidFill>
                  <a:srgbClr val="0C343D"/>
                </a:solidFill>
                <a:latin typeface="Arimo Bold"/>
                <a:ea typeface="Arimo Bold"/>
                <a:cs typeface="Arimo Bold"/>
                <a:sym typeface="Arimo Bold"/>
              </a:rPr>
              <a:t>Feature Engineering     </a:t>
            </a:r>
          </a:p>
        </p:txBody>
      </p:sp>
      <p:sp>
        <p:nvSpPr>
          <p:cNvPr name="TextBox 11" id="11"/>
          <p:cNvSpPr txBox="true"/>
          <p:nvPr/>
        </p:nvSpPr>
        <p:spPr>
          <a:xfrm rot="0">
            <a:off x="2086275" y="3240125"/>
            <a:ext cx="6454350" cy="2907792"/>
          </a:xfrm>
          <a:prstGeom prst="rect">
            <a:avLst/>
          </a:prstGeom>
        </p:spPr>
        <p:txBody>
          <a:bodyPr anchor="t" rtlCol="false" tIns="0" lIns="0" bIns="0" rIns="0">
            <a:spAutoFit/>
          </a:bodyPr>
          <a:lstStyle/>
          <a:p>
            <a:pPr algn="l">
              <a:lnSpc>
                <a:spcPts val="3863"/>
              </a:lnSpc>
            </a:pPr>
            <a:r>
              <a:rPr lang="en-US" sz="2799">
                <a:solidFill>
                  <a:srgbClr val="0C343D"/>
                </a:solidFill>
                <a:latin typeface="Lato"/>
                <a:ea typeface="Lato"/>
                <a:cs typeface="Lato"/>
                <a:sym typeface="Lato"/>
              </a:rPr>
              <a:t>Ho</a:t>
            </a:r>
            <a:r>
              <a:rPr lang="en-US" sz="2799">
                <a:solidFill>
                  <a:srgbClr val="0C343D"/>
                </a:solidFill>
                <a:latin typeface="Lato"/>
                <a:ea typeface="Lato"/>
                <a:cs typeface="Lato"/>
                <a:sym typeface="Lato"/>
              </a:rPr>
              <a:t>ur was converted from a single 0-23 number into two features (hour_sin, hour_cos) that represent it as a position on a 24-hour circle — this correctly tells the model that 11 PM and midnight are neighbors in time, not opposites.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3F7F8"/>
        </a:solidFill>
      </p:bgPr>
    </p:bg>
    <p:spTree>
      <p:nvGrpSpPr>
        <p:cNvPr id="1" name=""/>
        <p:cNvGrpSpPr/>
        <p:nvPr/>
      </p:nvGrpSpPr>
      <p:grpSpPr>
        <a:xfrm>
          <a:off x="0" y="0"/>
          <a:ext cx="0" cy="0"/>
          <a:chOff x="0" y="0"/>
          <a:chExt cx="0" cy="0"/>
        </a:xfrm>
      </p:grpSpPr>
      <p:sp>
        <p:nvSpPr>
          <p:cNvPr name="AutoShape 2" id="2"/>
          <p:cNvSpPr/>
          <p:nvPr/>
        </p:nvSpPr>
        <p:spPr>
          <a:xfrm rot="9824691">
            <a:off x="13750474" y="8445975"/>
            <a:ext cx="7188252" cy="0"/>
          </a:xfrm>
          <a:prstGeom prst="line">
            <a:avLst/>
          </a:prstGeom>
          <a:ln cap="rnd" w="19050">
            <a:solidFill>
              <a:srgbClr val="45818E"/>
            </a:solidFill>
            <a:prstDash val="solid"/>
            <a:headEnd type="none" len="sm" w="sm"/>
            <a:tailEnd type="oval" len="lg" w="lg"/>
          </a:ln>
        </p:spPr>
      </p:sp>
      <p:sp>
        <p:nvSpPr>
          <p:cNvPr name="AutoShape 3" id="3"/>
          <p:cNvSpPr/>
          <p:nvPr/>
        </p:nvSpPr>
        <p:spPr>
          <a:xfrm rot="9589218">
            <a:off x="15110077" y="8873775"/>
            <a:ext cx="6013645" cy="0"/>
          </a:xfrm>
          <a:prstGeom prst="line">
            <a:avLst/>
          </a:prstGeom>
          <a:ln cap="rnd" w="19050">
            <a:solidFill>
              <a:srgbClr val="45818E"/>
            </a:solidFill>
            <a:prstDash val="solid"/>
            <a:headEnd type="none" len="sm" w="sm"/>
            <a:tailEnd type="oval" len="lg" w="lg"/>
          </a:ln>
        </p:spPr>
      </p:sp>
      <p:sp>
        <p:nvSpPr>
          <p:cNvPr name="TextBox 4" id="4"/>
          <p:cNvSpPr txBox="true"/>
          <p:nvPr/>
        </p:nvSpPr>
        <p:spPr>
          <a:xfrm rot="0">
            <a:off x="3793751" y="7668125"/>
            <a:ext cx="6283350" cy="567600"/>
          </a:xfrm>
          <a:prstGeom prst="rect">
            <a:avLst/>
          </a:prstGeom>
        </p:spPr>
        <p:txBody>
          <a:bodyPr anchor="t" rtlCol="false" tIns="0" lIns="0" bIns="0" rIns="0">
            <a:spAutoFit/>
          </a:bodyPr>
          <a:lstStyle/>
          <a:p>
            <a:pPr algn="r">
              <a:lnSpc>
                <a:spcPts val="4800"/>
              </a:lnSpc>
            </a:pPr>
            <a:r>
              <a:rPr lang="en-US" b="true" sz="4000">
                <a:solidFill>
                  <a:srgbClr val="FFFFFF"/>
                </a:solidFill>
                <a:latin typeface="Arimo Bold"/>
                <a:ea typeface="Arimo Bold"/>
                <a:cs typeface="Arimo Bold"/>
                <a:sym typeface="Arimo Bold"/>
              </a:rPr>
              <a:t>—Someone Famous</a:t>
            </a:r>
          </a:p>
        </p:txBody>
      </p:sp>
      <p:sp>
        <p:nvSpPr>
          <p:cNvPr name="Freeform 5" id="5"/>
          <p:cNvSpPr/>
          <p:nvPr/>
        </p:nvSpPr>
        <p:spPr>
          <a:xfrm flipH="false" flipV="false" rot="0">
            <a:off x="11649650" y="3055300"/>
            <a:ext cx="5708348" cy="5589506"/>
          </a:xfrm>
          <a:custGeom>
            <a:avLst/>
            <a:gdLst/>
            <a:ahLst/>
            <a:cxnLst/>
            <a:rect r="r" b="b" t="t" l="l"/>
            <a:pathLst>
              <a:path h="5589506" w="5708348">
                <a:moveTo>
                  <a:pt x="0" y="0"/>
                </a:moveTo>
                <a:lnTo>
                  <a:pt x="5708348" y="0"/>
                </a:lnTo>
                <a:lnTo>
                  <a:pt x="5708348" y="5589506"/>
                </a:lnTo>
                <a:lnTo>
                  <a:pt x="0" y="55895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078714" y="3448845"/>
            <a:ext cx="2640750" cy="1876425"/>
          </a:xfrm>
          <a:prstGeom prst="rect">
            <a:avLst/>
          </a:prstGeom>
        </p:spPr>
        <p:txBody>
          <a:bodyPr anchor="t" rtlCol="false" tIns="0" lIns="0" bIns="0" rIns="0">
            <a:spAutoFit/>
          </a:bodyPr>
          <a:lstStyle/>
          <a:p>
            <a:pPr algn="ctr">
              <a:lnSpc>
                <a:spcPts val="14400"/>
              </a:lnSpc>
            </a:pPr>
            <a:r>
              <a:rPr lang="en-US" b="true" sz="12000">
                <a:gradFill>
                  <a:gsLst>
                    <a:gs pos="0">
                      <a:srgbClr val="0097B2">
                        <a:alpha val="100000"/>
                      </a:srgbClr>
                    </a:gs>
                    <a:gs pos="100000">
                      <a:srgbClr val="7ED957">
                        <a:alpha val="100000"/>
                      </a:srgbClr>
                    </a:gs>
                  </a:gsLst>
                  <a:lin ang="0"/>
                </a:gradFill>
                <a:latin typeface="Arimo Bold"/>
                <a:ea typeface="Arimo Bold"/>
                <a:cs typeface="Arimo Bold"/>
                <a:sym typeface="Arimo Bold"/>
              </a:rPr>
              <a:t>02</a:t>
            </a:r>
          </a:p>
        </p:txBody>
      </p:sp>
      <p:sp>
        <p:nvSpPr>
          <p:cNvPr name="TextBox 7" id="7"/>
          <p:cNvSpPr txBox="true"/>
          <p:nvPr/>
        </p:nvSpPr>
        <p:spPr>
          <a:xfrm rot="0">
            <a:off x="3316118" y="3877470"/>
            <a:ext cx="6947011" cy="1038225"/>
          </a:xfrm>
          <a:prstGeom prst="rect">
            <a:avLst/>
          </a:prstGeom>
        </p:spPr>
        <p:txBody>
          <a:bodyPr anchor="t" rtlCol="false" tIns="0" lIns="0" bIns="0" rIns="0">
            <a:spAutoFit/>
          </a:bodyPr>
          <a:lstStyle/>
          <a:p>
            <a:pPr algn="r">
              <a:lnSpc>
                <a:spcPts val="8015"/>
              </a:lnSpc>
            </a:pPr>
            <a:r>
              <a:rPr lang="en-US" b="true" sz="6679">
                <a:solidFill>
                  <a:srgbClr val="869FB2"/>
                </a:solidFill>
                <a:latin typeface="Arimo Bold"/>
                <a:ea typeface="Arimo Bold"/>
                <a:cs typeface="Arimo Bold"/>
                <a:sym typeface="Arimo Bold"/>
              </a:rPr>
              <a:t>Pipeline &amp; Model</a:t>
            </a:r>
          </a:p>
        </p:txBody>
      </p:sp>
      <p:grpSp>
        <p:nvGrpSpPr>
          <p:cNvPr name="Group 8" id="8"/>
          <p:cNvGrpSpPr/>
          <p:nvPr/>
        </p:nvGrpSpPr>
        <p:grpSpPr>
          <a:xfrm rot="0">
            <a:off x="2902061" y="6742542"/>
            <a:ext cx="5930469" cy="834796"/>
            <a:chOff x="0" y="0"/>
            <a:chExt cx="7907292" cy="1113061"/>
          </a:xfrm>
        </p:grpSpPr>
        <p:sp>
          <p:nvSpPr>
            <p:cNvPr name="Freeform 9" id="9"/>
            <p:cNvSpPr/>
            <p:nvPr/>
          </p:nvSpPr>
          <p:spPr>
            <a:xfrm flipH="false" flipV="false" rot="0">
              <a:off x="0" y="0"/>
              <a:ext cx="7907266" cy="1113094"/>
            </a:xfrm>
            <a:custGeom>
              <a:avLst/>
              <a:gdLst/>
              <a:ahLst/>
              <a:cxnLst/>
              <a:rect r="r" b="b" t="t" l="l"/>
              <a:pathLst>
                <a:path h="1113094" w="7907266">
                  <a:moveTo>
                    <a:pt x="0" y="0"/>
                  </a:moveTo>
                  <a:lnTo>
                    <a:pt x="7907266" y="0"/>
                  </a:lnTo>
                  <a:lnTo>
                    <a:pt x="7907266" y="1113094"/>
                  </a:lnTo>
                  <a:lnTo>
                    <a:pt x="0" y="1113094"/>
                  </a:lnTo>
                  <a:close/>
                </a:path>
              </a:pathLst>
            </a:custGeom>
            <a:solidFill>
              <a:srgbClr val="45818E"/>
            </a:solidFill>
          </p:spPr>
        </p:sp>
        <p:sp>
          <p:nvSpPr>
            <p:cNvPr name="TextBox 10" id="10"/>
            <p:cNvSpPr txBox="true"/>
            <p:nvPr/>
          </p:nvSpPr>
          <p:spPr>
            <a:xfrm>
              <a:off x="0" y="-76200"/>
              <a:ext cx="7907292" cy="1189261"/>
            </a:xfrm>
            <a:prstGeom prst="rect">
              <a:avLst/>
            </a:prstGeom>
          </p:spPr>
          <p:txBody>
            <a:bodyPr anchor="ctr" rtlCol="false" tIns="50800" lIns="50800" bIns="50800" rIns="50800"/>
            <a:lstStyle/>
            <a:p>
              <a:pPr algn="r">
                <a:lnSpc>
                  <a:spcPts val="5105"/>
                </a:lnSpc>
              </a:pPr>
              <a:r>
                <a:rPr lang="en-US" sz="3699">
                  <a:solidFill>
                    <a:srgbClr val="FFFFFF"/>
                  </a:solidFill>
                  <a:latin typeface="Lato"/>
                  <a:ea typeface="Lato"/>
                  <a:cs typeface="Lato"/>
                  <a:sym typeface="Lato"/>
                </a:rPr>
                <a:t>Encoding + Scaling + Tuning</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3F7F8"/>
        </a:solidFill>
      </p:bgPr>
    </p:bg>
    <p:spTree>
      <p:nvGrpSpPr>
        <p:cNvPr id="1" name=""/>
        <p:cNvGrpSpPr/>
        <p:nvPr/>
      </p:nvGrpSpPr>
      <p:grpSpPr>
        <a:xfrm>
          <a:off x="0" y="0"/>
          <a:ext cx="0" cy="0"/>
          <a:chOff x="0" y="0"/>
          <a:chExt cx="0" cy="0"/>
        </a:xfrm>
      </p:grpSpPr>
      <p:sp>
        <p:nvSpPr>
          <p:cNvPr name="Freeform 2" id="2"/>
          <p:cNvSpPr/>
          <p:nvPr/>
        </p:nvSpPr>
        <p:spPr>
          <a:xfrm flipH="false" flipV="false" rot="0">
            <a:off x="2700783" y="1625760"/>
            <a:ext cx="11623921" cy="7965477"/>
          </a:xfrm>
          <a:custGeom>
            <a:avLst/>
            <a:gdLst/>
            <a:ahLst/>
            <a:cxnLst/>
            <a:rect r="r" b="b" t="t" l="l"/>
            <a:pathLst>
              <a:path h="7965477" w="11623921">
                <a:moveTo>
                  <a:pt x="0" y="0"/>
                </a:moveTo>
                <a:lnTo>
                  <a:pt x="11623921" y="0"/>
                </a:lnTo>
                <a:lnTo>
                  <a:pt x="11623921" y="7965477"/>
                </a:lnTo>
                <a:lnTo>
                  <a:pt x="0" y="7965477"/>
                </a:lnTo>
                <a:lnTo>
                  <a:pt x="0" y="0"/>
                </a:lnTo>
                <a:close/>
              </a:path>
            </a:pathLst>
          </a:custGeom>
          <a:blipFill>
            <a:blip r:embed="rId3"/>
            <a:stretch>
              <a:fillRect l="0" t="0" r="0" b="0"/>
            </a:stretch>
          </a:blipFill>
        </p:spPr>
      </p:sp>
      <p:sp>
        <p:nvSpPr>
          <p:cNvPr name="TextBox 3" id="3"/>
          <p:cNvSpPr txBox="true"/>
          <p:nvPr/>
        </p:nvSpPr>
        <p:spPr>
          <a:xfrm rot="0">
            <a:off x="1028700" y="376212"/>
            <a:ext cx="15225150" cy="942975"/>
          </a:xfrm>
          <a:prstGeom prst="rect">
            <a:avLst/>
          </a:prstGeom>
        </p:spPr>
        <p:txBody>
          <a:bodyPr anchor="t" rtlCol="false" tIns="0" lIns="0" bIns="0" rIns="0">
            <a:spAutoFit/>
          </a:bodyPr>
          <a:lstStyle/>
          <a:p>
            <a:pPr algn="l">
              <a:lnSpc>
                <a:spcPts val="7200"/>
              </a:lnSpc>
            </a:pPr>
            <a:r>
              <a:rPr lang="en-US" b="true" sz="6000">
                <a:solidFill>
                  <a:srgbClr val="0C343D"/>
                </a:solidFill>
                <a:latin typeface="Arimo Bold"/>
                <a:ea typeface="Arimo Bold"/>
                <a:cs typeface="Arimo Bold"/>
                <a:sym typeface="Arimo Bold"/>
              </a:rPr>
              <a:t>Pipeline Process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3F7F8"/>
        </a:solidFill>
      </p:bgPr>
    </p:bg>
    <p:spTree>
      <p:nvGrpSpPr>
        <p:cNvPr id="1" name=""/>
        <p:cNvGrpSpPr/>
        <p:nvPr/>
      </p:nvGrpSpPr>
      <p:grpSpPr>
        <a:xfrm>
          <a:off x="0" y="0"/>
          <a:ext cx="0" cy="0"/>
          <a:chOff x="0" y="0"/>
          <a:chExt cx="0" cy="0"/>
        </a:xfrm>
      </p:grpSpPr>
      <p:sp>
        <p:nvSpPr>
          <p:cNvPr name="Freeform 2" id="2"/>
          <p:cNvSpPr/>
          <p:nvPr/>
        </p:nvSpPr>
        <p:spPr>
          <a:xfrm flipH="false" flipV="false" rot="0">
            <a:off x="1710302" y="7352741"/>
            <a:ext cx="13835659" cy="1736293"/>
          </a:xfrm>
          <a:custGeom>
            <a:avLst/>
            <a:gdLst/>
            <a:ahLst/>
            <a:cxnLst/>
            <a:rect r="r" b="b" t="t" l="l"/>
            <a:pathLst>
              <a:path h="1736293" w="13835659">
                <a:moveTo>
                  <a:pt x="0" y="0"/>
                </a:moveTo>
                <a:lnTo>
                  <a:pt x="13835659" y="0"/>
                </a:lnTo>
                <a:lnTo>
                  <a:pt x="13835659" y="1736293"/>
                </a:lnTo>
                <a:lnTo>
                  <a:pt x="0" y="1736293"/>
                </a:lnTo>
                <a:lnTo>
                  <a:pt x="0" y="0"/>
                </a:lnTo>
                <a:close/>
              </a:path>
            </a:pathLst>
          </a:custGeom>
          <a:blipFill>
            <a:blip r:embed="rId3"/>
            <a:stretch>
              <a:fillRect l="0" t="0" r="0" b="0"/>
            </a:stretch>
          </a:blipFill>
        </p:spPr>
      </p:sp>
      <p:sp>
        <p:nvSpPr>
          <p:cNvPr name="TextBox 3" id="3"/>
          <p:cNvSpPr txBox="true"/>
          <p:nvPr/>
        </p:nvSpPr>
        <p:spPr>
          <a:xfrm rot="0">
            <a:off x="1140317" y="413417"/>
            <a:ext cx="15225150" cy="942975"/>
          </a:xfrm>
          <a:prstGeom prst="rect">
            <a:avLst/>
          </a:prstGeom>
        </p:spPr>
        <p:txBody>
          <a:bodyPr anchor="t" rtlCol="false" tIns="0" lIns="0" bIns="0" rIns="0">
            <a:spAutoFit/>
          </a:bodyPr>
          <a:lstStyle/>
          <a:p>
            <a:pPr algn="l">
              <a:lnSpc>
                <a:spcPts val="7200"/>
              </a:lnSpc>
            </a:pPr>
            <a:r>
              <a:rPr lang="en-US" b="true" sz="6000">
                <a:solidFill>
                  <a:srgbClr val="0C343D"/>
                </a:solidFill>
                <a:latin typeface="Arimo Bold"/>
                <a:ea typeface="Arimo Bold"/>
                <a:cs typeface="Arimo Bold"/>
                <a:sym typeface="Arimo Bold"/>
              </a:rPr>
              <a:t>HyperParameter Tuning</a:t>
            </a:r>
          </a:p>
        </p:txBody>
      </p:sp>
      <p:sp>
        <p:nvSpPr>
          <p:cNvPr name="TextBox 4" id="4"/>
          <p:cNvSpPr txBox="true"/>
          <p:nvPr/>
        </p:nvSpPr>
        <p:spPr>
          <a:xfrm rot="0">
            <a:off x="1028700" y="1530299"/>
            <a:ext cx="15198863" cy="5822442"/>
          </a:xfrm>
          <a:prstGeom prst="rect">
            <a:avLst/>
          </a:prstGeom>
        </p:spPr>
        <p:txBody>
          <a:bodyPr anchor="t" rtlCol="false" tIns="0" lIns="0" bIns="0" rIns="0">
            <a:spAutoFit/>
          </a:bodyPr>
          <a:lstStyle/>
          <a:p>
            <a:pPr algn="l" marL="604519" indent="-302260" lvl="1">
              <a:lnSpc>
                <a:spcPts val="3863"/>
              </a:lnSpc>
              <a:buFont typeface="Arial"/>
              <a:buChar char="•"/>
            </a:pPr>
            <a:r>
              <a:rPr lang="en-US" sz="2799">
                <a:solidFill>
                  <a:srgbClr val="000000"/>
                </a:solidFill>
                <a:latin typeface="Lato"/>
                <a:ea typeface="Lato"/>
                <a:cs typeface="Lato"/>
                <a:sym typeface="Lato"/>
              </a:rPr>
              <a:t>Do</a:t>
            </a:r>
            <a:r>
              <a:rPr lang="en-US" sz="2799">
                <a:solidFill>
                  <a:srgbClr val="000000"/>
                </a:solidFill>
                <a:latin typeface="Lato"/>
                <a:ea typeface="Lato"/>
                <a:cs typeface="Lato"/>
                <a:sym typeface="Lato"/>
              </a:rPr>
              <a:t>wn-sample chronologically — take every 10th row (10% of training data) to speed up tuning, while preserving the full time range from 2009–2014</a:t>
            </a:r>
          </a:p>
          <a:p>
            <a:pPr algn="l" marL="604519" indent="-302260" lvl="1">
              <a:lnSpc>
                <a:spcPts val="3863"/>
              </a:lnSpc>
              <a:buFont typeface="Arial"/>
              <a:buChar char="•"/>
            </a:pPr>
            <a:r>
              <a:rPr lang="en-US" sz="2799">
                <a:solidFill>
                  <a:srgbClr val="000000"/>
                </a:solidFill>
                <a:latin typeface="Lato"/>
                <a:ea typeface="Lato"/>
                <a:cs typeface="Lato"/>
                <a:sym typeface="Lato"/>
              </a:rPr>
              <a:t>Time-aware cross-validation — use TimeSeriesSplit (5 folds) instead of random K-Fold, so each fold only trains on data before its validation period, respecting real-world chronology</a:t>
            </a:r>
          </a:p>
          <a:p>
            <a:pPr algn="l" marL="604519" indent="-302260" lvl="1">
              <a:lnSpc>
                <a:spcPts val="3863"/>
              </a:lnSpc>
              <a:buFont typeface="Arial"/>
              <a:buChar char="•"/>
            </a:pPr>
            <a:r>
              <a:rPr lang="en-US" sz="2799">
                <a:solidFill>
                  <a:srgbClr val="000000"/>
                </a:solidFill>
                <a:latin typeface="Lato"/>
                <a:ea typeface="Lato"/>
                <a:cs typeface="Lato"/>
                <a:sym typeface="Lato"/>
              </a:rPr>
              <a:t>Build a unified pipeline — bundle preprocessing + Gradient Boosting into a single Pipeline object, ensuring consistent, leak-free transformations at every step</a:t>
            </a:r>
          </a:p>
          <a:p>
            <a:pPr algn="l" marL="604519" indent="-302260" lvl="1">
              <a:lnSpc>
                <a:spcPts val="3863"/>
              </a:lnSpc>
              <a:buFont typeface="Arial"/>
              <a:buChar char="•"/>
            </a:pPr>
            <a:r>
              <a:rPr lang="en-US" sz="2799">
                <a:solidFill>
                  <a:srgbClr val="000000"/>
                </a:solidFill>
                <a:latin typeface="Lato"/>
                <a:ea typeface="Lato"/>
                <a:cs typeface="Lato"/>
                <a:sym typeface="Lato"/>
              </a:rPr>
              <a:t>Define the search space — specify candidate values for 5 key hyperparameters (n_estimators, learning_rate, max_depth, min_samples_split, subsample)</a:t>
            </a:r>
          </a:p>
          <a:p>
            <a:pPr algn="l" marL="604519" indent="-302260" lvl="1">
              <a:lnSpc>
                <a:spcPts val="3863"/>
              </a:lnSpc>
              <a:buFont typeface="Arial"/>
              <a:buChar char="•"/>
            </a:pPr>
            <a:r>
              <a:rPr lang="en-US" sz="2799">
                <a:solidFill>
                  <a:srgbClr val="000000"/>
                </a:solidFill>
                <a:latin typeface="Lato"/>
                <a:ea typeface="Lato"/>
                <a:cs typeface="Lato"/>
                <a:sym typeface="Lato"/>
              </a:rPr>
              <a:t>Randomized search for best parameters — test 10 random combinations across all 5 time-based folds (50 total fits), scored by MAE, to efficiently find strong hyperparameters without exhaustive search</a:t>
            </a:r>
          </a:p>
          <a:p>
            <a:pPr algn="l">
              <a:lnSpc>
                <a:spcPts val="3863"/>
              </a:lnSpc>
            </a:pP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3F7F8"/>
        </a:solidFill>
      </p:bgPr>
    </p:bg>
    <p:spTree>
      <p:nvGrpSpPr>
        <p:cNvPr id="1" name=""/>
        <p:cNvGrpSpPr/>
        <p:nvPr/>
      </p:nvGrpSpPr>
      <p:grpSpPr>
        <a:xfrm>
          <a:off x="0" y="0"/>
          <a:ext cx="0" cy="0"/>
          <a:chOff x="0" y="0"/>
          <a:chExt cx="0" cy="0"/>
        </a:xfrm>
      </p:grpSpPr>
      <p:sp>
        <p:nvSpPr>
          <p:cNvPr name="TextBox 2" id="2"/>
          <p:cNvSpPr txBox="true"/>
          <p:nvPr/>
        </p:nvSpPr>
        <p:spPr>
          <a:xfrm rot="0">
            <a:off x="991494" y="245992"/>
            <a:ext cx="15225150" cy="942975"/>
          </a:xfrm>
          <a:prstGeom prst="rect">
            <a:avLst/>
          </a:prstGeom>
        </p:spPr>
        <p:txBody>
          <a:bodyPr anchor="t" rtlCol="false" tIns="0" lIns="0" bIns="0" rIns="0">
            <a:spAutoFit/>
          </a:bodyPr>
          <a:lstStyle/>
          <a:p>
            <a:pPr algn="l">
              <a:lnSpc>
                <a:spcPts val="7200"/>
              </a:lnSpc>
            </a:pPr>
            <a:r>
              <a:rPr lang="en-US" b="true" sz="6000">
                <a:solidFill>
                  <a:srgbClr val="0C343D"/>
                </a:solidFill>
                <a:latin typeface="Arimo Bold"/>
                <a:ea typeface="Arimo Bold"/>
                <a:cs typeface="Arimo Bold"/>
                <a:sym typeface="Arimo Bold"/>
              </a:rPr>
              <a:t>Model Evaluation  </a:t>
            </a:r>
          </a:p>
        </p:txBody>
      </p:sp>
      <p:sp>
        <p:nvSpPr>
          <p:cNvPr name="TextBox 3" id="3"/>
          <p:cNvSpPr txBox="true"/>
          <p:nvPr/>
        </p:nvSpPr>
        <p:spPr>
          <a:xfrm rot="0">
            <a:off x="991494" y="1280639"/>
            <a:ext cx="6789201" cy="495681"/>
          </a:xfrm>
          <a:prstGeom prst="rect">
            <a:avLst/>
          </a:prstGeom>
        </p:spPr>
        <p:txBody>
          <a:bodyPr anchor="t" rtlCol="false" tIns="0" lIns="0" bIns="0" rIns="0">
            <a:spAutoFit/>
          </a:bodyPr>
          <a:lstStyle/>
          <a:p>
            <a:pPr algn="l">
              <a:lnSpc>
                <a:spcPts val="4002"/>
              </a:lnSpc>
            </a:pPr>
            <a:r>
              <a:rPr lang="en-US" sz="2900">
                <a:solidFill>
                  <a:srgbClr val="134F5C"/>
                </a:solidFill>
                <a:latin typeface="Lato"/>
                <a:ea typeface="Lato"/>
                <a:cs typeface="Lato"/>
                <a:sym typeface="Lato"/>
              </a:rPr>
              <a:t>Ho</a:t>
            </a:r>
            <a:r>
              <a:rPr lang="en-US" sz="2900">
                <a:solidFill>
                  <a:srgbClr val="134F5C"/>
                </a:solidFill>
                <a:latin typeface="Lato"/>
                <a:ea typeface="Lato"/>
                <a:cs typeface="Lato"/>
                <a:sym typeface="Lato"/>
              </a:rPr>
              <a:t>w Do We Judge Model Performance?</a:t>
            </a:r>
          </a:p>
        </p:txBody>
      </p:sp>
      <p:sp>
        <p:nvSpPr>
          <p:cNvPr name="TextBox 4" id="4"/>
          <p:cNvSpPr txBox="true"/>
          <p:nvPr/>
        </p:nvSpPr>
        <p:spPr>
          <a:xfrm rot="0">
            <a:off x="355690" y="2361819"/>
            <a:ext cx="17932310" cy="2514981"/>
          </a:xfrm>
          <a:prstGeom prst="rect">
            <a:avLst/>
          </a:prstGeom>
        </p:spPr>
        <p:txBody>
          <a:bodyPr anchor="t" rtlCol="false" tIns="0" lIns="0" bIns="0" rIns="0">
            <a:spAutoFit/>
          </a:bodyPr>
          <a:lstStyle/>
          <a:p>
            <a:pPr algn="l">
              <a:lnSpc>
                <a:spcPts val="4002"/>
              </a:lnSpc>
            </a:pPr>
            <a:r>
              <a:rPr lang="en-US" sz="2900">
                <a:solidFill>
                  <a:srgbClr val="000000"/>
                </a:solidFill>
                <a:latin typeface="Lato"/>
                <a:ea typeface="Lato"/>
                <a:cs typeface="Lato"/>
                <a:sym typeface="Lato"/>
              </a:rPr>
              <a:t>We</a:t>
            </a:r>
            <a:r>
              <a:rPr lang="en-US" sz="2900">
                <a:solidFill>
                  <a:srgbClr val="000000"/>
                </a:solidFill>
                <a:latin typeface="Lato"/>
                <a:ea typeface="Lato"/>
                <a:cs typeface="Lato"/>
                <a:sym typeface="Lato"/>
              </a:rPr>
              <a:t> consider three key metrics:</a:t>
            </a:r>
          </a:p>
          <a:p>
            <a:pPr algn="l" marL="626111" indent="-313055" lvl="1">
              <a:lnSpc>
                <a:spcPts val="4002"/>
              </a:lnSpc>
              <a:buFont typeface="Arial"/>
              <a:buChar char="•"/>
            </a:pPr>
            <a:r>
              <a:rPr lang="en-US" sz="2900">
                <a:solidFill>
                  <a:srgbClr val="000000"/>
                </a:solidFill>
                <a:latin typeface="Lato"/>
                <a:ea typeface="Lato"/>
                <a:cs typeface="Lato"/>
                <a:sym typeface="Lato"/>
              </a:rPr>
              <a:t>MAE (Mean Absolute Error) – Measures the average prediction error.</a:t>
            </a:r>
          </a:p>
          <a:p>
            <a:pPr algn="l" marL="626111" indent="-313055" lvl="1">
              <a:lnSpc>
                <a:spcPts val="4002"/>
              </a:lnSpc>
              <a:buFont typeface="Arial"/>
              <a:buChar char="•"/>
            </a:pPr>
            <a:r>
              <a:rPr lang="en-US" sz="2900">
                <a:solidFill>
                  <a:srgbClr val="000000"/>
                </a:solidFill>
                <a:latin typeface="Lato"/>
                <a:ea typeface="Lato"/>
                <a:cs typeface="Lato"/>
                <a:sym typeface="Lato"/>
              </a:rPr>
              <a:t>RMSE (Root Mean Squared Error) – Penalizes large prediction errors more heavily.</a:t>
            </a:r>
          </a:p>
          <a:p>
            <a:pPr algn="l" marL="626111" indent="-313055" lvl="1">
              <a:lnSpc>
                <a:spcPts val="4002"/>
              </a:lnSpc>
              <a:buFont typeface="Arial"/>
              <a:buChar char="•"/>
            </a:pPr>
            <a:r>
              <a:rPr lang="en-US" sz="2900">
                <a:solidFill>
                  <a:srgbClr val="000000"/>
                </a:solidFill>
                <a:latin typeface="Lato"/>
                <a:ea typeface="Lato"/>
                <a:cs typeface="Lato"/>
                <a:sym typeface="Lato"/>
              </a:rPr>
              <a:t>R² Score (Coefficient of Determination) – Measures how well the model explains the variation in the data.</a:t>
            </a:r>
          </a:p>
          <a:p>
            <a:pPr algn="l">
              <a:lnSpc>
                <a:spcPts val="4002"/>
              </a:lnSpc>
            </a:pPr>
          </a:p>
        </p:txBody>
      </p:sp>
      <p:sp>
        <p:nvSpPr>
          <p:cNvPr name="TextBox 5" id="5"/>
          <p:cNvSpPr txBox="true"/>
          <p:nvPr/>
        </p:nvSpPr>
        <p:spPr>
          <a:xfrm rot="0">
            <a:off x="991494" y="5086350"/>
            <a:ext cx="6789201" cy="495681"/>
          </a:xfrm>
          <a:prstGeom prst="rect">
            <a:avLst/>
          </a:prstGeom>
        </p:spPr>
        <p:txBody>
          <a:bodyPr anchor="t" rtlCol="false" tIns="0" lIns="0" bIns="0" rIns="0">
            <a:spAutoFit/>
          </a:bodyPr>
          <a:lstStyle/>
          <a:p>
            <a:pPr algn="l">
              <a:lnSpc>
                <a:spcPts val="4002"/>
              </a:lnSpc>
            </a:pPr>
            <a:r>
              <a:rPr lang="en-US" sz="2900">
                <a:solidFill>
                  <a:srgbClr val="134F5C"/>
                </a:solidFill>
                <a:latin typeface="Lato"/>
                <a:ea typeface="Lato"/>
                <a:cs typeface="Lato"/>
                <a:sym typeface="Lato"/>
              </a:rPr>
              <a:t>that’s means : </a:t>
            </a:r>
          </a:p>
        </p:txBody>
      </p:sp>
      <p:sp>
        <p:nvSpPr>
          <p:cNvPr name="TextBox 6" id="6"/>
          <p:cNvSpPr txBox="true"/>
          <p:nvPr/>
        </p:nvSpPr>
        <p:spPr>
          <a:xfrm rot="0">
            <a:off x="355690" y="5791581"/>
            <a:ext cx="17932310" cy="2514981"/>
          </a:xfrm>
          <a:prstGeom prst="rect">
            <a:avLst/>
          </a:prstGeom>
        </p:spPr>
        <p:txBody>
          <a:bodyPr anchor="t" rtlCol="false" tIns="0" lIns="0" bIns="0" rIns="0">
            <a:spAutoFit/>
          </a:bodyPr>
          <a:lstStyle/>
          <a:p>
            <a:pPr algn="l">
              <a:lnSpc>
                <a:spcPts val="4002"/>
              </a:lnSpc>
            </a:pPr>
          </a:p>
          <a:p>
            <a:pPr algn="l">
              <a:lnSpc>
                <a:spcPts val="4002"/>
              </a:lnSpc>
            </a:pPr>
            <a:r>
              <a:rPr lang="en-US" sz="2900">
                <a:solidFill>
                  <a:srgbClr val="000000"/>
                </a:solidFill>
                <a:latin typeface="Lato"/>
                <a:ea typeface="Lato"/>
                <a:cs typeface="Lato"/>
                <a:sym typeface="Lato"/>
              </a:rPr>
              <a:t> Lower </a:t>
            </a:r>
            <a:r>
              <a:rPr lang="en-US" b="true" sz="2900">
                <a:solidFill>
                  <a:srgbClr val="000000"/>
                </a:solidFill>
                <a:latin typeface="Lato Bold"/>
                <a:ea typeface="Lato Bold"/>
                <a:cs typeface="Lato Bold"/>
                <a:sym typeface="Lato Bold"/>
              </a:rPr>
              <a:t>MAE </a:t>
            </a:r>
            <a:r>
              <a:rPr lang="en-US" sz="2900">
                <a:solidFill>
                  <a:srgbClr val="000000"/>
                </a:solidFill>
                <a:latin typeface="Lato"/>
                <a:ea typeface="Lato"/>
                <a:cs typeface="Lato"/>
                <a:sym typeface="Lato"/>
              </a:rPr>
              <a:t>→ More accurate predictions.</a:t>
            </a:r>
          </a:p>
          <a:p>
            <a:pPr algn="l">
              <a:lnSpc>
                <a:spcPts val="4002"/>
              </a:lnSpc>
            </a:pPr>
            <a:r>
              <a:rPr lang="en-US" sz="2900">
                <a:solidFill>
                  <a:srgbClr val="000000"/>
                </a:solidFill>
                <a:latin typeface="Lato"/>
                <a:ea typeface="Lato"/>
                <a:cs typeface="Lato"/>
                <a:sym typeface="Lato"/>
              </a:rPr>
              <a:t> Lower </a:t>
            </a:r>
            <a:r>
              <a:rPr lang="en-US" b="true" sz="2900">
                <a:solidFill>
                  <a:srgbClr val="000000"/>
                </a:solidFill>
                <a:latin typeface="Lato Bold"/>
                <a:ea typeface="Lato Bold"/>
                <a:cs typeface="Lato Bold"/>
                <a:sym typeface="Lato Bold"/>
              </a:rPr>
              <a:t>RMSE</a:t>
            </a:r>
            <a:r>
              <a:rPr lang="en-US" sz="2900">
                <a:solidFill>
                  <a:srgbClr val="000000"/>
                </a:solidFill>
                <a:latin typeface="Lato"/>
                <a:ea typeface="Lato"/>
                <a:cs typeface="Lato"/>
                <a:sym typeface="Lato"/>
              </a:rPr>
              <a:t> → Fewer large prediction errors.</a:t>
            </a:r>
          </a:p>
          <a:p>
            <a:pPr algn="l">
              <a:lnSpc>
                <a:spcPts val="4002"/>
              </a:lnSpc>
            </a:pPr>
            <a:r>
              <a:rPr lang="en-US" sz="2900">
                <a:solidFill>
                  <a:srgbClr val="000000"/>
                </a:solidFill>
                <a:latin typeface="Lato"/>
                <a:ea typeface="Lato"/>
                <a:cs typeface="Lato"/>
                <a:sym typeface="Lato"/>
              </a:rPr>
              <a:t> Higher </a:t>
            </a:r>
            <a:r>
              <a:rPr lang="en-US" b="true" sz="2900">
                <a:solidFill>
                  <a:srgbClr val="000000"/>
                </a:solidFill>
                <a:latin typeface="Lato Bold"/>
                <a:ea typeface="Lato Bold"/>
                <a:cs typeface="Lato Bold"/>
                <a:sym typeface="Lato Bold"/>
              </a:rPr>
              <a:t>R² </a:t>
            </a:r>
            <a:r>
              <a:rPr lang="en-US" sz="2900">
                <a:solidFill>
                  <a:srgbClr val="000000"/>
                </a:solidFill>
                <a:latin typeface="Lato"/>
                <a:ea typeface="Lato"/>
                <a:cs typeface="Lato"/>
                <a:sym typeface="Lato"/>
              </a:rPr>
              <a:t>→ Better ability to explain and predict the target variable.</a:t>
            </a:r>
          </a:p>
          <a:p>
            <a:pPr algn="l">
              <a:lnSpc>
                <a:spcPts val="4002"/>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3F7F8"/>
        </a:solidFill>
      </p:bgPr>
    </p:bg>
    <p:spTree>
      <p:nvGrpSpPr>
        <p:cNvPr id="1" name=""/>
        <p:cNvGrpSpPr/>
        <p:nvPr/>
      </p:nvGrpSpPr>
      <p:grpSpPr>
        <a:xfrm>
          <a:off x="0" y="0"/>
          <a:ext cx="0" cy="0"/>
          <a:chOff x="0" y="0"/>
          <a:chExt cx="0" cy="0"/>
        </a:xfrm>
      </p:grpSpPr>
      <p:sp>
        <p:nvSpPr>
          <p:cNvPr name="Freeform 2" id="2"/>
          <p:cNvSpPr/>
          <p:nvPr/>
        </p:nvSpPr>
        <p:spPr>
          <a:xfrm flipH="false" flipV="false" rot="0">
            <a:off x="3693772" y="1188967"/>
            <a:ext cx="10565605" cy="2033924"/>
          </a:xfrm>
          <a:custGeom>
            <a:avLst/>
            <a:gdLst/>
            <a:ahLst/>
            <a:cxnLst/>
            <a:rect r="r" b="b" t="t" l="l"/>
            <a:pathLst>
              <a:path h="2033924" w="10565605">
                <a:moveTo>
                  <a:pt x="0" y="0"/>
                </a:moveTo>
                <a:lnTo>
                  <a:pt x="10565605" y="0"/>
                </a:lnTo>
                <a:lnTo>
                  <a:pt x="10565605" y="2033924"/>
                </a:lnTo>
                <a:lnTo>
                  <a:pt x="0" y="2033924"/>
                </a:lnTo>
                <a:lnTo>
                  <a:pt x="0" y="0"/>
                </a:lnTo>
                <a:close/>
              </a:path>
            </a:pathLst>
          </a:custGeom>
          <a:blipFill>
            <a:blip r:embed="rId3"/>
            <a:stretch>
              <a:fillRect l="0" t="0" r="0" b="0"/>
            </a:stretch>
          </a:blipFill>
        </p:spPr>
      </p:sp>
      <p:sp>
        <p:nvSpPr>
          <p:cNvPr name="Freeform 3" id="3"/>
          <p:cNvSpPr/>
          <p:nvPr/>
        </p:nvSpPr>
        <p:spPr>
          <a:xfrm flipH="false" flipV="false" rot="0">
            <a:off x="4099950" y="3222891"/>
            <a:ext cx="9727487" cy="1187511"/>
          </a:xfrm>
          <a:custGeom>
            <a:avLst/>
            <a:gdLst/>
            <a:ahLst/>
            <a:cxnLst/>
            <a:rect r="r" b="b" t="t" l="l"/>
            <a:pathLst>
              <a:path h="1187511" w="9727487">
                <a:moveTo>
                  <a:pt x="0" y="0"/>
                </a:moveTo>
                <a:lnTo>
                  <a:pt x="9727488" y="0"/>
                </a:lnTo>
                <a:lnTo>
                  <a:pt x="9727488" y="1187511"/>
                </a:lnTo>
                <a:lnTo>
                  <a:pt x="0" y="1187511"/>
                </a:lnTo>
                <a:lnTo>
                  <a:pt x="0" y="0"/>
                </a:lnTo>
                <a:close/>
              </a:path>
            </a:pathLst>
          </a:custGeom>
          <a:blipFill>
            <a:blip r:embed="rId4"/>
            <a:stretch>
              <a:fillRect l="0" t="0" r="0" b="0"/>
            </a:stretch>
          </a:blipFill>
        </p:spPr>
      </p:sp>
      <p:sp>
        <p:nvSpPr>
          <p:cNvPr name="Freeform 4" id="4"/>
          <p:cNvSpPr/>
          <p:nvPr/>
        </p:nvSpPr>
        <p:spPr>
          <a:xfrm flipH="false" flipV="false" rot="0">
            <a:off x="3693772" y="4587236"/>
            <a:ext cx="10539845" cy="5366520"/>
          </a:xfrm>
          <a:custGeom>
            <a:avLst/>
            <a:gdLst/>
            <a:ahLst/>
            <a:cxnLst/>
            <a:rect r="r" b="b" t="t" l="l"/>
            <a:pathLst>
              <a:path h="5366520" w="10539845">
                <a:moveTo>
                  <a:pt x="0" y="0"/>
                </a:moveTo>
                <a:lnTo>
                  <a:pt x="10539844" y="0"/>
                </a:lnTo>
                <a:lnTo>
                  <a:pt x="10539844" y="5366520"/>
                </a:lnTo>
                <a:lnTo>
                  <a:pt x="0" y="5366520"/>
                </a:lnTo>
                <a:lnTo>
                  <a:pt x="0" y="0"/>
                </a:lnTo>
                <a:close/>
              </a:path>
            </a:pathLst>
          </a:custGeom>
          <a:blipFill>
            <a:blip r:embed="rId5"/>
            <a:stretch>
              <a:fillRect l="0" t="0" r="0" b="0"/>
            </a:stretch>
          </a:blipFill>
        </p:spPr>
      </p:sp>
      <p:sp>
        <p:nvSpPr>
          <p:cNvPr name="TextBox 5" id="5"/>
          <p:cNvSpPr txBox="true"/>
          <p:nvPr/>
        </p:nvSpPr>
        <p:spPr>
          <a:xfrm rot="0">
            <a:off x="991494" y="245992"/>
            <a:ext cx="15225150" cy="942975"/>
          </a:xfrm>
          <a:prstGeom prst="rect">
            <a:avLst/>
          </a:prstGeom>
        </p:spPr>
        <p:txBody>
          <a:bodyPr anchor="t" rtlCol="false" tIns="0" lIns="0" bIns="0" rIns="0">
            <a:spAutoFit/>
          </a:bodyPr>
          <a:lstStyle/>
          <a:p>
            <a:pPr algn="l">
              <a:lnSpc>
                <a:spcPts val="7200"/>
              </a:lnSpc>
            </a:pPr>
            <a:r>
              <a:rPr lang="en-US" b="true" sz="6000">
                <a:solidFill>
                  <a:srgbClr val="0C343D"/>
                </a:solidFill>
                <a:latin typeface="Arimo Bold"/>
                <a:ea typeface="Arimo Bold"/>
                <a:cs typeface="Arimo Bold"/>
                <a:sym typeface="Arimo Bold"/>
              </a:rPr>
              <a:t>Model Evaluation  </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3F7F8"/>
        </a:solidFill>
      </p:bgPr>
    </p:bg>
    <p:spTree>
      <p:nvGrpSpPr>
        <p:cNvPr id="1" name=""/>
        <p:cNvGrpSpPr/>
        <p:nvPr/>
      </p:nvGrpSpPr>
      <p:grpSpPr>
        <a:xfrm>
          <a:off x="0" y="0"/>
          <a:ext cx="0" cy="0"/>
          <a:chOff x="0" y="0"/>
          <a:chExt cx="0" cy="0"/>
        </a:xfrm>
      </p:grpSpPr>
      <p:sp>
        <p:nvSpPr>
          <p:cNvPr name="TextBox 2" id="2"/>
          <p:cNvSpPr txBox="true"/>
          <p:nvPr/>
        </p:nvSpPr>
        <p:spPr>
          <a:xfrm rot="0">
            <a:off x="634732" y="139839"/>
            <a:ext cx="15225150" cy="942975"/>
          </a:xfrm>
          <a:prstGeom prst="rect">
            <a:avLst/>
          </a:prstGeom>
        </p:spPr>
        <p:txBody>
          <a:bodyPr anchor="t" rtlCol="false" tIns="0" lIns="0" bIns="0" rIns="0">
            <a:spAutoFit/>
          </a:bodyPr>
          <a:lstStyle/>
          <a:p>
            <a:pPr algn="l">
              <a:lnSpc>
                <a:spcPts val="7200"/>
              </a:lnSpc>
            </a:pPr>
            <a:r>
              <a:rPr lang="en-US" b="true" sz="6000">
                <a:solidFill>
                  <a:srgbClr val="0C343D"/>
                </a:solidFill>
                <a:latin typeface="Arimo Bold"/>
                <a:ea typeface="Arimo Bold"/>
                <a:cs typeface="Arimo Bold"/>
                <a:sym typeface="Arimo Bold"/>
              </a:rPr>
              <a:t>Model Evaluation  </a:t>
            </a:r>
          </a:p>
        </p:txBody>
      </p:sp>
      <p:sp>
        <p:nvSpPr>
          <p:cNvPr name="TextBox 3" id="3"/>
          <p:cNvSpPr txBox="true"/>
          <p:nvPr/>
        </p:nvSpPr>
        <p:spPr>
          <a:xfrm rot="0">
            <a:off x="749657" y="1749564"/>
            <a:ext cx="15198863" cy="2010156"/>
          </a:xfrm>
          <a:prstGeom prst="rect">
            <a:avLst/>
          </a:prstGeom>
        </p:spPr>
        <p:txBody>
          <a:bodyPr anchor="t" rtlCol="false" tIns="0" lIns="0" bIns="0" rIns="0">
            <a:spAutoFit/>
          </a:bodyPr>
          <a:lstStyle/>
          <a:p>
            <a:pPr algn="l">
              <a:lnSpc>
                <a:spcPts val="4001"/>
              </a:lnSpc>
            </a:pPr>
            <a:r>
              <a:rPr lang="en-US" sz="2899">
                <a:solidFill>
                  <a:srgbClr val="0C343D"/>
                </a:solidFill>
                <a:latin typeface="Lato"/>
                <a:ea typeface="Lato"/>
                <a:cs typeface="Lato"/>
                <a:sym typeface="Lato"/>
              </a:rPr>
              <a:t>As we see the model perfromance is 86 which is not bad remember this number well becuase there is a surpise coming in our way </a:t>
            </a:r>
          </a:p>
          <a:p>
            <a:pPr algn="l">
              <a:lnSpc>
                <a:spcPts val="4001"/>
              </a:lnSpc>
            </a:pPr>
          </a:p>
          <a:p>
            <a:pPr algn="l">
              <a:lnSpc>
                <a:spcPts val="4002"/>
              </a:lnSpc>
            </a:pPr>
          </a:p>
        </p:txBody>
      </p:sp>
      <p:sp>
        <p:nvSpPr>
          <p:cNvPr name="TextBox 4" id="4"/>
          <p:cNvSpPr txBox="true"/>
          <p:nvPr/>
        </p:nvSpPr>
        <p:spPr>
          <a:xfrm rot="0">
            <a:off x="749657" y="3483305"/>
            <a:ext cx="15198863" cy="495681"/>
          </a:xfrm>
          <a:prstGeom prst="rect">
            <a:avLst/>
          </a:prstGeom>
        </p:spPr>
        <p:txBody>
          <a:bodyPr anchor="t" rtlCol="false" tIns="0" lIns="0" bIns="0" rIns="0">
            <a:spAutoFit/>
          </a:bodyPr>
          <a:lstStyle/>
          <a:p>
            <a:pPr algn="l">
              <a:lnSpc>
                <a:spcPts val="4002"/>
              </a:lnSpc>
            </a:pPr>
            <a:r>
              <a:rPr lang="en-US" sz="2900">
                <a:solidFill>
                  <a:srgbClr val="0C343D"/>
                </a:solidFill>
                <a:latin typeface="Lato"/>
                <a:ea typeface="Lato"/>
                <a:cs typeface="Lato"/>
                <a:sym typeface="Lato"/>
              </a:rPr>
              <a:t>To be honest the first time i run the past cells the effecieny was 75% only </a:t>
            </a:r>
          </a:p>
        </p:txBody>
      </p:sp>
      <p:sp>
        <p:nvSpPr>
          <p:cNvPr name="TextBox 5" id="5"/>
          <p:cNvSpPr txBox="true"/>
          <p:nvPr/>
        </p:nvSpPr>
        <p:spPr>
          <a:xfrm rot="0">
            <a:off x="749657" y="4647819"/>
            <a:ext cx="15198863" cy="495681"/>
          </a:xfrm>
          <a:prstGeom prst="rect">
            <a:avLst/>
          </a:prstGeom>
        </p:spPr>
        <p:txBody>
          <a:bodyPr anchor="t" rtlCol="false" tIns="0" lIns="0" bIns="0" rIns="0">
            <a:spAutoFit/>
          </a:bodyPr>
          <a:lstStyle/>
          <a:p>
            <a:pPr algn="l">
              <a:lnSpc>
                <a:spcPts val="4002"/>
              </a:lnSpc>
            </a:pPr>
            <a:r>
              <a:rPr lang="en-US" sz="2900">
                <a:solidFill>
                  <a:srgbClr val="0C343D"/>
                </a:solidFill>
                <a:latin typeface="Lato"/>
                <a:ea typeface="Lato"/>
                <a:cs typeface="Lato"/>
                <a:sym typeface="Lato"/>
              </a:rPr>
              <a:t>yeah , but with some modification we go up to 86 like: </a:t>
            </a:r>
          </a:p>
        </p:txBody>
      </p:sp>
      <p:sp>
        <p:nvSpPr>
          <p:cNvPr name="TextBox 6" id="6"/>
          <p:cNvSpPr txBox="true"/>
          <p:nvPr/>
        </p:nvSpPr>
        <p:spPr>
          <a:xfrm rot="0">
            <a:off x="634732" y="5484561"/>
            <a:ext cx="17932310" cy="2010156"/>
          </a:xfrm>
          <a:prstGeom prst="rect">
            <a:avLst/>
          </a:prstGeom>
        </p:spPr>
        <p:txBody>
          <a:bodyPr anchor="t" rtlCol="false" tIns="0" lIns="0" bIns="0" rIns="0">
            <a:spAutoFit/>
          </a:bodyPr>
          <a:lstStyle/>
          <a:p>
            <a:pPr algn="l" marL="626111" indent="-313055" lvl="1">
              <a:lnSpc>
                <a:spcPts val="4002"/>
              </a:lnSpc>
              <a:buFont typeface="Arial"/>
              <a:buChar char="•"/>
            </a:pPr>
            <a:r>
              <a:rPr lang="en-US" sz="2900">
                <a:solidFill>
                  <a:srgbClr val="000000"/>
                </a:solidFill>
                <a:latin typeface="Lato"/>
                <a:ea typeface="Lato"/>
                <a:cs typeface="Lato"/>
                <a:sym typeface="Lato"/>
              </a:rPr>
              <a:t>Handling outliers manaully</a:t>
            </a:r>
            <a:r>
              <a:rPr lang="en-US" sz="2900">
                <a:solidFill>
                  <a:srgbClr val="000000"/>
                </a:solidFill>
                <a:latin typeface="Lato"/>
                <a:ea typeface="Lato"/>
                <a:cs typeface="Lato"/>
                <a:sym typeface="Lato"/>
              </a:rPr>
              <a:t>.</a:t>
            </a:r>
          </a:p>
          <a:p>
            <a:pPr algn="l" marL="626111" indent="-313055" lvl="1">
              <a:lnSpc>
                <a:spcPts val="4002"/>
              </a:lnSpc>
              <a:buFont typeface="Arial"/>
              <a:buChar char="•"/>
            </a:pPr>
            <a:r>
              <a:rPr lang="en-US" sz="2900">
                <a:solidFill>
                  <a:srgbClr val="000000"/>
                </a:solidFill>
                <a:latin typeface="Lato"/>
                <a:ea typeface="Lato"/>
                <a:cs typeface="Lato"/>
                <a:sym typeface="Lato"/>
              </a:rPr>
              <a:t>Switching from elastic Net to Gradient boost regressor</a:t>
            </a:r>
            <a:r>
              <a:rPr lang="en-US" sz="2900">
                <a:solidFill>
                  <a:srgbClr val="000000"/>
                </a:solidFill>
                <a:latin typeface="Lato"/>
                <a:ea typeface="Lato"/>
                <a:cs typeface="Lato"/>
                <a:sym typeface="Lato"/>
              </a:rPr>
              <a:t>.</a:t>
            </a:r>
          </a:p>
          <a:p>
            <a:pPr algn="l" marL="626111" indent="-313055" lvl="1">
              <a:lnSpc>
                <a:spcPts val="4002"/>
              </a:lnSpc>
              <a:buFont typeface="Arial"/>
              <a:buChar char="•"/>
            </a:pPr>
            <a:r>
              <a:rPr lang="en-US" sz="2900">
                <a:solidFill>
                  <a:srgbClr val="000000"/>
                </a:solidFill>
                <a:latin typeface="Lato"/>
                <a:ea typeface="Lato"/>
                <a:cs typeface="Lato"/>
                <a:sym typeface="Lato"/>
              </a:rPr>
              <a:t>Splitting the data Chronologically </a:t>
            </a:r>
            <a:r>
              <a:rPr lang="en-US" sz="2900">
                <a:solidFill>
                  <a:srgbClr val="000000"/>
                </a:solidFill>
                <a:latin typeface="Lato"/>
                <a:ea typeface="Lato"/>
                <a:cs typeface="Lato"/>
                <a:sym typeface="Lato"/>
              </a:rPr>
              <a:t>.</a:t>
            </a:r>
          </a:p>
          <a:p>
            <a:pPr algn="l">
              <a:lnSpc>
                <a:spcPts val="4002"/>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3F7F8"/>
        </a:solidFill>
      </p:bgPr>
    </p:bg>
    <p:spTree>
      <p:nvGrpSpPr>
        <p:cNvPr id="1" name=""/>
        <p:cNvGrpSpPr/>
        <p:nvPr/>
      </p:nvGrpSpPr>
      <p:grpSpPr>
        <a:xfrm>
          <a:off x="0" y="0"/>
          <a:ext cx="0" cy="0"/>
          <a:chOff x="0" y="0"/>
          <a:chExt cx="0" cy="0"/>
        </a:xfrm>
      </p:grpSpPr>
      <p:sp>
        <p:nvSpPr>
          <p:cNvPr name="Freeform 2" id="2"/>
          <p:cNvSpPr/>
          <p:nvPr/>
        </p:nvSpPr>
        <p:spPr>
          <a:xfrm flipH="false" flipV="false" rot="0">
            <a:off x="11415038" y="1483261"/>
            <a:ext cx="6677278" cy="6565980"/>
          </a:xfrm>
          <a:custGeom>
            <a:avLst/>
            <a:gdLst/>
            <a:ahLst/>
            <a:cxnLst/>
            <a:rect r="r" b="b" t="t" l="l"/>
            <a:pathLst>
              <a:path h="6565980" w="6677278">
                <a:moveTo>
                  <a:pt x="0" y="0"/>
                </a:moveTo>
                <a:lnTo>
                  <a:pt x="6677278" y="0"/>
                </a:lnTo>
                <a:lnTo>
                  <a:pt x="6677278" y="6565980"/>
                </a:lnTo>
                <a:lnTo>
                  <a:pt x="0" y="65659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2758032" y="3877470"/>
            <a:ext cx="8844502" cy="1038225"/>
          </a:xfrm>
          <a:prstGeom prst="rect">
            <a:avLst/>
          </a:prstGeom>
        </p:spPr>
        <p:txBody>
          <a:bodyPr anchor="t" rtlCol="false" tIns="0" lIns="0" bIns="0" rIns="0">
            <a:spAutoFit/>
          </a:bodyPr>
          <a:lstStyle/>
          <a:p>
            <a:pPr algn="r">
              <a:lnSpc>
                <a:spcPts val="8015"/>
              </a:lnSpc>
            </a:pPr>
            <a:r>
              <a:rPr lang="en-US" b="true" sz="6679">
                <a:solidFill>
                  <a:srgbClr val="869FB2"/>
                </a:solidFill>
                <a:latin typeface="Arimo Bold"/>
                <a:ea typeface="Arimo Bold"/>
                <a:cs typeface="Arimo Bold"/>
                <a:sym typeface="Arimo Bold"/>
              </a:rPr>
              <a:t>R</a:t>
            </a:r>
            <a:r>
              <a:rPr lang="en-US" b="true" sz="6679">
                <a:solidFill>
                  <a:srgbClr val="869FB2"/>
                </a:solidFill>
                <a:latin typeface="Arimo Bold"/>
                <a:ea typeface="Arimo Bold"/>
                <a:cs typeface="Arimo Bold"/>
                <a:sym typeface="Arimo Bold"/>
              </a:rPr>
              <a:t>esults &amp; Next Steps</a:t>
            </a:r>
          </a:p>
        </p:txBody>
      </p:sp>
      <p:grpSp>
        <p:nvGrpSpPr>
          <p:cNvPr name="Group 4" id="4"/>
          <p:cNvGrpSpPr/>
          <p:nvPr/>
        </p:nvGrpSpPr>
        <p:grpSpPr>
          <a:xfrm rot="0">
            <a:off x="2920664" y="6378086"/>
            <a:ext cx="7065243" cy="834796"/>
            <a:chOff x="0" y="0"/>
            <a:chExt cx="9420324" cy="1113061"/>
          </a:xfrm>
        </p:grpSpPr>
        <p:sp>
          <p:nvSpPr>
            <p:cNvPr name="Freeform 5" id="5"/>
            <p:cNvSpPr/>
            <p:nvPr/>
          </p:nvSpPr>
          <p:spPr>
            <a:xfrm flipH="false" flipV="false" rot="0">
              <a:off x="0" y="0"/>
              <a:ext cx="9420293" cy="1113094"/>
            </a:xfrm>
            <a:custGeom>
              <a:avLst/>
              <a:gdLst/>
              <a:ahLst/>
              <a:cxnLst/>
              <a:rect r="r" b="b" t="t" l="l"/>
              <a:pathLst>
                <a:path h="1113094" w="9420293">
                  <a:moveTo>
                    <a:pt x="0" y="0"/>
                  </a:moveTo>
                  <a:lnTo>
                    <a:pt x="9420293" y="0"/>
                  </a:lnTo>
                  <a:lnTo>
                    <a:pt x="9420293" y="1113094"/>
                  </a:lnTo>
                  <a:lnTo>
                    <a:pt x="0" y="1113094"/>
                  </a:lnTo>
                  <a:close/>
                </a:path>
              </a:pathLst>
            </a:custGeom>
            <a:solidFill>
              <a:srgbClr val="45818E"/>
            </a:solidFill>
          </p:spPr>
        </p:sp>
        <p:sp>
          <p:nvSpPr>
            <p:cNvPr name="TextBox 6" id="6"/>
            <p:cNvSpPr txBox="true"/>
            <p:nvPr/>
          </p:nvSpPr>
          <p:spPr>
            <a:xfrm>
              <a:off x="0" y="-76200"/>
              <a:ext cx="9420324" cy="1189261"/>
            </a:xfrm>
            <a:prstGeom prst="rect">
              <a:avLst/>
            </a:prstGeom>
          </p:spPr>
          <p:txBody>
            <a:bodyPr anchor="ctr" rtlCol="false" tIns="50800" lIns="50800" bIns="50800" rIns="50800"/>
            <a:lstStyle/>
            <a:p>
              <a:pPr algn="r">
                <a:lnSpc>
                  <a:spcPts val="5105"/>
                </a:lnSpc>
              </a:pPr>
              <a:r>
                <a:rPr lang="en-US" sz="3699">
                  <a:solidFill>
                    <a:srgbClr val="FFFFFF"/>
                  </a:solidFill>
                  <a:latin typeface="Lato"/>
                  <a:ea typeface="Lato"/>
                  <a:cs typeface="Lato"/>
                  <a:sym typeface="Lato"/>
                </a:rPr>
                <a:t>The Optimized Notebook is here</a:t>
              </a:r>
            </a:p>
          </p:txBody>
        </p:sp>
      </p:grpSp>
      <p:sp>
        <p:nvSpPr>
          <p:cNvPr name="TextBox 7" id="7"/>
          <p:cNvSpPr txBox="true"/>
          <p:nvPr/>
        </p:nvSpPr>
        <p:spPr>
          <a:xfrm rot="0">
            <a:off x="743863" y="3448845"/>
            <a:ext cx="2640750" cy="1876425"/>
          </a:xfrm>
          <a:prstGeom prst="rect">
            <a:avLst/>
          </a:prstGeom>
        </p:spPr>
        <p:txBody>
          <a:bodyPr anchor="t" rtlCol="false" tIns="0" lIns="0" bIns="0" rIns="0">
            <a:spAutoFit/>
          </a:bodyPr>
          <a:lstStyle/>
          <a:p>
            <a:pPr algn="ctr">
              <a:lnSpc>
                <a:spcPts val="14400"/>
              </a:lnSpc>
            </a:pPr>
            <a:r>
              <a:rPr lang="en-US" b="true" sz="12000">
                <a:gradFill>
                  <a:gsLst>
                    <a:gs pos="0">
                      <a:srgbClr val="0097B2">
                        <a:alpha val="100000"/>
                      </a:srgbClr>
                    </a:gs>
                    <a:gs pos="100000">
                      <a:srgbClr val="7ED957">
                        <a:alpha val="100000"/>
                      </a:srgbClr>
                    </a:gs>
                  </a:gsLst>
                  <a:lin ang="0"/>
                </a:gradFill>
                <a:latin typeface="Arimo Bold"/>
                <a:ea typeface="Arimo Bold"/>
                <a:cs typeface="Arimo Bold"/>
                <a:sym typeface="Arimo Bold"/>
              </a:rPr>
              <a:t>03</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3F7F8"/>
        </a:solidFill>
      </p:bgPr>
    </p:bg>
    <p:spTree>
      <p:nvGrpSpPr>
        <p:cNvPr id="1" name=""/>
        <p:cNvGrpSpPr/>
        <p:nvPr/>
      </p:nvGrpSpPr>
      <p:grpSpPr>
        <a:xfrm>
          <a:off x="0" y="0"/>
          <a:ext cx="0" cy="0"/>
          <a:chOff x="0" y="0"/>
          <a:chExt cx="0" cy="0"/>
        </a:xfrm>
      </p:grpSpPr>
      <p:sp>
        <p:nvSpPr>
          <p:cNvPr name="Freeform 2" id="2"/>
          <p:cNvSpPr/>
          <p:nvPr/>
        </p:nvSpPr>
        <p:spPr>
          <a:xfrm flipH="false" flipV="false" rot="0">
            <a:off x="8094028" y="85146"/>
            <a:ext cx="9935784" cy="855128"/>
          </a:xfrm>
          <a:custGeom>
            <a:avLst/>
            <a:gdLst/>
            <a:ahLst/>
            <a:cxnLst/>
            <a:rect r="r" b="b" t="t" l="l"/>
            <a:pathLst>
              <a:path h="855128" w="9935784">
                <a:moveTo>
                  <a:pt x="0" y="0"/>
                </a:moveTo>
                <a:lnTo>
                  <a:pt x="9935784" y="0"/>
                </a:lnTo>
                <a:lnTo>
                  <a:pt x="9935784" y="855128"/>
                </a:lnTo>
                <a:lnTo>
                  <a:pt x="0" y="8551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rot="411024">
            <a:off x="9904206" y="1079253"/>
            <a:ext cx="9479575" cy="0"/>
          </a:xfrm>
          <a:prstGeom prst="line">
            <a:avLst/>
          </a:prstGeom>
          <a:ln cap="rnd" w="19050">
            <a:solidFill>
              <a:srgbClr val="45818E"/>
            </a:solidFill>
            <a:prstDash val="solid"/>
            <a:headEnd type="none" len="sm" w="sm"/>
            <a:tailEnd type="oval" len="lg" w="lg"/>
          </a:ln>
        </p:spPr>
      </p:sp>
      <p:sp>
        <p:nvSpPr>
          <p:cNvPr name="AutoShape 4" id="4"/>
          <p:cNvSpPr/>
          <p:nvPr/>
        </p:nvSpPr>
        <p:spPr>
          <a:xfrm rot="513294">
            <a:off x="11241799" y="887453"/>
            <a:ext cx="8411691" cy="0"/>
          </a:xfrm>
          <a:prstGeom prst="line">
            <a:avLst/>
          </a:prstGeom>
          <a:ln cap="rnd" w="19050">
            <a:solidFill>
              <a:srgbClr val="45818E"/>
            </a:solidFill>
            <a:prstDash val="solid"/>
            <a:headEnd type="none" len="sm" w="sm"/>
            <a:tailEnd type="oval" len="lg" w="lg"/>
          </a:ln>
        </p:spPr>
      </p:sp>
      <p:sp>
        <p:nvSpPr>
          <p:cNvPr name="AutoShape 5" id="5"/>
          <p:cNvSpPr/>
          <p:nvPr/>
        </p:nvSpPr>
        <p:spPr>
          <a:xfrm rot="93638">
            <a:off x="-1004573" y="9486075"/>
            <a:ext cx="17106646" cy="0"/>
          </a:xfrm>
          <a:prstGeom prst="line">
            <a:avLst/>
          </a:prstGeom>
          <a:ln cap="rnd" w="19050">
            <a:solidFill>
              <a:srgbClr val="45818E"/>
            </a:solidFill>
            <a:prstDash val="solid"/>
            <a:headEnd type="none" len="sm" w="sm"/>
            <a:tailEnd type="oval" len="lg" w="lg"/>
          </a:ln>
        </p:spPr>
      </p:sp>
      <p:sp>
        <p:nvSpPr>
          <p:cNvPr name="AutoShape 6" id="6"/>
          <p:cNvSpPr/>
          <p:nvPr/>
        </p:nvSpPr>
        <p:spPr>
          <a:xfrm rot="192812">
            <a:off x="-828223" y="9465825"/>
            <a:ext cx="13320246" cy="0"/>
          </a:xfrm>
          <a:prstGeom prst="line">
            <a:avLst/>
          </a:prstGeom>
          <a:ln cap="rnd" w="19050">
            <a:solidFill>
              <a:srgbClr val="45818E"/>
            </a:solidFill>
            <a:prstDash val="solid"/>
            <a:headEnd type="none" len="sm" w="sm"/>
            <a:tailEnd type="oval" len="lg" w="lg"/>
          </a:ln>
        </p:spPr>
      </p:sp>
      <p:sp>
        <p:nvSpPr>
          <p:cNvPr name="Freeform 7" id="7"/>
          <p:cNvSpPr/>
          <p:nvPr/>
        </p:nvSpPr>
        <p:spPr>
          <a:xfrm flipH="false" flipV="false" rot="0">
            <a:off x="10437187" y="3371779"/>
            <a:ext cx="6938286" cy="5539872"/>
          </a:xfrm>
          <a:custGeom>
            <a:avLst/>
            <a:gdLst/>
            <a:ahLst/>
            <a:cxnLst/>
            <a:rect r="r" b="b" t="t" l="l"/>
            <a:pathLst>
              <a:path h="5539872" w="6938286">
                <a:moveTo>
                  <a:pt x="0" y="0"/>
                </a:moveTo>
                <a:lnTo>
                  <a:pt x="6938286" y="0"/>
                </a:lnTo>
                <a:lnTo>
                  <a:pt x="6938286" y="5539872"/>
                </a:lnTo>
                <a:lnTo>
                  <a:pt x="0" y="5539872"/>
                </a:lnTo>
                <a:lnTo>
                  <a:pt x="0" y="0"/>
                </a:lnTo>
                <a:close/>
              </a:path>
            </a:pathLst>
          </a:custGeom>
          <a:blipFill>
            <a:blip r:embed="rId5"/>
            <a:stretch>
              <a:fillRect l="0" t="0" r="0" b="0"/>
            </a:stretch>
          </a:blipFill>
        </p:spPr>
      </p:sp>
      <p:sp>
        <p:nvSpPr>
          <p:cNvPr name="TextBox 8" id="8"/>
          <p:cNvSpPr txBox="true"/>
          <p:nvPr/>
        </p:nvSpPr>
        <p:spPr>
          <a:xfrm rot="0">
            <a:off x="1233779" y="898259"/>
            <a:ext cx="15225150" cy="942975"/>
          </a:xfrm>
          <a:prstGeom prst="rect">
            <a:avLst/>
          </a:prstGeom>
        </p:spPr>
        <p:txBody>
          <a:bodyPr anchor="t" rtlCol="false" tIns="0" lIns="0" bIns="0" rIns="0">
            <a:spAutoFit/>
          </a:bodyPr>
          <a:lstStyle/>
          <a:p>
            <a:pPr algn="l">
              <a:lnSpc>
                <a:spcPts val="7200"/>
              </a:lnSpc>
            </a:pPr>
            <a:r>
              <a:rPr lang="en-US" b="true" sz="6000">
                <a:solidFill>
                  <a:srgbClr val="0C343D"/>
                </a:solidFill>
                <a:latin typeface="Arimo Bold"/>
                <a:ea typeface="Arimo Bold"/>
                <a:cs typeface="Arimo Bold"/>
                <a:sym typeface="Arimo Bold"/>
              </a:rPr>
              <a:t>Best Practices and Enhancements </a:t>
            </a:r>
          </a:p>
        </p:txBody>
      </p:sp>
      <p:sp>
        <p:nvSpPr>
          <p:cNvPr name="TextBox 9" id="9"/>
          <p:cNvSpPr txBox="true"/>
          <p:nvPr/>
        </p:nvSpPr>
        <p:spPr>
          <a:xfrm rot="0">
            <a:off x="1414159" y="1993634"/>
            <a:ext cx="15459682" cy="505205"/>
          </a:xfrm>
          <a:prstGeom prst="rect">
            <a:avLst/>
          </a:prstGeom>
        </p:spPr>
        <p:txBody>
          <a:bodyPr anchor="t" rtlCol="false" tIns="0" lIns="0" bIns="0" rIns="0">
            <a:spAutoFit/>
          </a:bodyPr>
          <a:lstStyle/>
          <a:p>
            <a:pPr algn="l">
              <a:lnSpc>
                <a:spcPts val="4002"/>
              </a:lnSpc>
            </a:pPr>
            <a:r>
              <a:rPr lang="en-US" b="true" sz="2900">
                <a:solidFill>
                  <a:srgbClr val="0C343D"/>
                </a:solidFill>
                <a:latin typeface="Arimo Bold"/>
                <a:ea typeface="Arimo Bold"/>
                <a:cs typeface="Arimo Bold"/>
                <a:sym typeface="Arimo Bold"/>
              </a:rPr>
              <a:t>Before leaving the old notebook we asked a very valuable question:</a:t>
            </a:r>
          </a:p>
        </p:txBody>
      </p:sp>
      <p:sp>
        <p:nvSpPr>
          <p:cNvPr name="TextBox 10" id="10"/>
          <p:cNvSpPr txBox="true"/>
          <p:nvPr/>
        </p:nvSpPr>
        <p:spPr>
          <a:xfrm rot="0">
            <a:off x="1414159" y="2651239"/>
            <a:ext cx="15459682" cy="505205"/>
          </a:xfrm>
          <a:prstGeom prst="rect">
            <a:avLst/>
          </a:prstGeom>
        </p:spPr>
        <p:txBody>
          <a:bodyPr anchor="t" rtlCol="false" tIns="0" lIns="0" bIns="0" rIns="0">
            <a:spAutoFit/>
          </a:bodyPr>
          <a:lstStyle/>
          <a:p>
            <a:pPr algn="l">
              <a:lnSpc>
                <a:spcPts val="4002"/>
              </a:lnSpc>
            </a:pPr>
            <a:r>
              <a:rPr lang="en-US" b="true" sz="2900">
                <a:solidFill>
                  <a:srgbClr val="FF914D"/>
                </a:solidFill>
                <a:latin typeface="Arimo Bold"/>
                <a:ea typeface="Arimo Bold"/>
                <a:cs typeface="Arimo Bold"/>
                <a:sym typeface="Arimo Bold"/>
              </a:rPr>
              <a:t>Does ignoring over half our features actually affects accuracy?</a:t>
            </a:r>
          </a:p>
        </p:txBody>
      </p:sp>
      <p:sp>
        <p:nvSpPr>
          <p:cNvPr name="TextBox 11" id="11"/>
          <p:cNvSpPr txBox="true"/>
          <p:nvPr/>
        </p:nvSpPr>
        <p:spPr>
          <a:xfrm rot="0">
            <a:off x="1407234" y="3480295"/>
            <a:ext cx="7736766" cy="1663205"/>
          </a:xfrm>
          <a:prstGeom prst="rect">
            <a:avLst/>
          </a:prstGeom>
        </p:spPr>
        <p:txBody>
          <a:bodyPr anchor="t" rtlCol="false" tIns="0" lIns="0" bIns="0" rIns="0">
            <a:spAutoFit/>
          </a:bodyPr>
          <a:lstStyle/>
          <a:p>
            <a:pPr algn="l">
              <a:lnSpc>
                <a:spcPts val="4427"/>
              </a:lnSpc>
            </a:pPr>
            <a:r>
              <a:rPr lang="en-US" sz="3208">
                <a:solidFill>
                  <a:srgbClr val="0C343D"/>
                </a:solidFill>
                <a:latin typeface="Lato"/>
                <a:ea typeface="Lato"/>
                <a:cs typeface="Lato"/>
                <a:sym typeface="Lato"/>
              </a:rPr>
              <a:t>This insight will make a big difference in the new optimized notebook we will navigate toghether right now </a:t>
            </a:r>
          </a:p>
        </p:txBody>
      </p:sp>
      <p:sp>
        <p:nvSpPr>
          <p:cNvPr name="TextBox 12" id="12"/>
          <p:cNvSpPr txBox="true"/>
          <p:nvPr/>
        </p:nvSpPr>
        <p:spPr>
          <a:xfrm rot="0">
            <a:off x="1407234" y="5469625"/>
            <a:ext cx="7736766" cy="1106581"/>
          </a:xfrm>
          <a:prstGeom prst="rect">
            <a:avLst/>
          </a:prstGeom>
        </p:spPr>
        <p:txBody>
          <a:bodyPr anchor="t" rtlCol="false" tIns="0" lIns="0" bIns="0" rIns="0">
            <a:spAutoFit/>
          </a:bodyPr>
          <a:lstStyle/>
          <a:p>
            <a:pPr algn="l">
              <a:lnSpc>
                <a:spcPts val="4427"/>
              </a:lnSpc>
            </a:pPr>
            <a:r>
              <a:rPr lang="en-US" sz="3208">
                <a:solidFill>
                  <a:srgbClr val="7ED957"/>
                </a:solidFill>
                <a:latin typeface="Lato"/>
                <a:ea typeface="Lato"/>
                <a:cs typeface="Lato"/>
                <a:sym typeface="Lato"/>
              </a:rPr>
              <a:t>but we can summarize the differcence between them in :</a:t>
            </a:r>
          </a:p>
        </p:txBody>
      </p:sp>
      <p:sp>
        <p:nvSpPr>
          <p:cNvPr name="TextBox 13" id="13"/>
          <p:cNvSpPr txBox="true"/>
          <p:nvPr/>
        </p:nvSpPr>
        <p:spPr>
          <a:xfrm rot="0">
            <a:off x="1064871" y="6743209"/>
            <a:ext cx="17746346" cy="2979557"/>
          </a:xfrm>
          <a:prstGeom prst="rect">
            <a:avLst/>
          </a:prstGeom>
        </p:spPr>
        <p:txBody>
          <a:bodyPr anchor="t" rtlCol="false" tIns="0" lIns="0" bIns="0" rIns="0">
            <a:spAutoFit/>
          </a:bodyPr>
          <a:lstStyle/>
          <a:p>
            <a:pPr algn="l" marL="619618" indent="-309809" lvl="1">
              <a:lnSpc>
                <a:spcPts val="3960"/>
              </a:lnSpc>
              <a:buFont typeface="Arial"/>
              <a:buChar char="•"/>
            </a:pPr>
            <a:r>
              <a:rPr lang="en-US" sz="2869">
                <a:solidFill>
                  <a:srgbClr val="000000"/>
                </a:solidFill>
                <a:latin typeface="Lato"/>
                <a:ea typeface="Lato"/>
                <a:cs typeface="Lato"/>
                <a:sym typeface="Lato"/>
              </a:rPr>
              <a:t>Pipeline include all the preprocessing </a:t>
            </a:r>
            <a:r>
              <a:rPr lang="en-US" sz="2869">
                <a:solidFill>
                  <a:srgbClr val="000000"/>
                </a:solidFill>
                <a:latin typeface="Lato"/>
                <a:ea typeface="Lato"/>
                <a:cs typeface="Lato"/>
                <a:sym typeface="Lato"/>
              </a:rPr>
              <a:t>.</a:t>
            </a:r>
          </a:p>
          <a:p>
            <a:pPr algn="l" marL="619618" indent="-309809" lvl="1">
              <a:lnSpc>
                <a:spcPts val="3960"/>
              </a:lnSpc>
              <a:buFont typeface="Arial"/>
              <a:buChar char="•"/>
            </a:pPr>
            <a:r>
              <a:rPr lang="en-US" sz="2869">
                <a:solidFill>
                  <a:srgbClr val="000000"/>
                </a:solidFill>
                <a:latin typeface="Lato"/>
                <a:ea typeface="Lato"/>
                <a:cs typeface="Lato"/>
                <a:sym typeface="Lato"/>
              </a:rPr>
              <a:t>Outliers are auto checked using Class</a:t>
            </a:r>
            <a:r>
              <a:rPr lang="en-US" sz="2869">
                <a:solidFill>
                  <a:srgbClr val="000000"/>
                </a:solidFill>
                <a:latin typeface="Lato"/>
                <a:ea typeface="Lato"/>
                <a:cs typeface="Lato"/>
                <a:sym typeface="Lato"/>
              </a:rPr>
              <a:t>.</a:t>
            </a:r>
          </a:p>
          <a:p>
            <a:pPr algn="l" marL="619618" indent="-309809" lvl="1">
              <a:lnSpc>
                <a:spcPts val="3960"/>
              </a:lnSpc>
              <a:buFont typeface="Arial"/>
              <a:buChar char="•"/>
            </a:pPr>
            <a:r>
              <a:rPr lang="en-US" sz="2869">
                <a:solidFill>
                  <a:srgbClr val="000000"/>
                </a:solidFill>
                <a:latin typeface="Lato"/>
                <a:ea typeface="Lato"/>
                <a:cs typeface="Lato"/>
                <a:sym typeface="Lato"/>
              </a:rPr>
              <a:t>Multicollinearity is auto checked using VIF</a:t>
            </a:r>
            <a:r>
              <a:rPr lang="en-US" sz="2869">
                <a:solidFill>
                  <a:srgbClr val="000000"/>
                </a:solidFill>
                <a:latin typeface="Lato"/>
                <a:ea typeface="Lato"/>
                <a:cs typeface="Lato"/>
                <a:sym typeface="Lato"/>
              </a:rPr>
              <a:t>.</a:t>
            </a:r>
          </a:p>
          <a:p>
            <a:pPr algn="l" marL="619618" indent="-309809" lvl="1">
              <a:lnSpc>
                <a:spcPts val="3960"/>
              </a:lnSpc>
              <a:buFont typeface="Arial"/>
              <a:buChar char="•"/>
            </a:pPr>
            <a:r>
              <a:rPr lang="en-US" sz="2869">
                <a:solidFill>
                  <a:srgbClr val="000000"/>
                </a:solidFill>
                <a:latin typeface="Lato"/>
                <a:ea typeface="Lato"/>
                <a:cs typeface="Lato"/>
                <a:sym typeface="Lato"/>
              </a:rPr>
              <a:t>We trained only the most imp features </a:t>
            </a:r>
          </a:p>
          <a:p>
            <a:pPr algn="l" marL="619618" indent="-309809" lvl="1">
              <a:lnSpc>
                <a:spcPts val="3960"/>
              </a:lnSpc>
              <a:buFont typeface="Arial"/>
              <a:buChar char="•"/>
            </a:pPr>
            <a:r>
              <a:rPr lang="en-US" sz="2869">
                <a:solidFill>
                  <a:srgbClr val="000000"/>
                </a:solidFill>
                <a:latin typeface="Lato"/>
                <a:ea typeface="Lato"/>
                <a:cs typeface="Lato"/>
                <a:sym typeface="Lato"/>
              </a:rPr>
              <a:t>No need for Encoding </a:t>
            </a:r>
          </a:p>
          <a:p>
            <a:pPr algn="l">
              <a:lnSpc>
                <a:spcPts val="3960"/>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3F7F8"/>
        </a:solidFill>
      </p:bgPr>
    </p:bg>
    <p:spTree>
      <p:nvGrpSpPr>
        <p:cNvPr id="1" name=""/>
        <p:cNvGrpSpPr/>
        <p:nvPr/>
      </p:nvGrpSpPr>
      <p:grpSpPr>
        <a:xfrm>
          <a:off x="0" y="0"/>
          <a:ext cx="0" cy="0"/>
          <a:chOff x="0" y="0"/>
          <a:chExt cx="0" cy="0"/>
        </a:xfrm>
      </p:grpSpPr>
      <p:sp>
        <p:nvSpPr>
          <p:cNvPr name="Freeform 2" id="2"/>
          <p:cNvSpPr/>
          <p:nvPr/>
        </p:nvSpPr>
        <p:spPr>
          <a:xfrm flipH="false" flipV="false" rot="0">
            <a:off x="17155736" y="149434"/>
            <a:ext cx="1211750" cy="8824484"/>
          </a:xfrm>
          <a:custGeom>
            <a:avLst/>
            <a:gdLst/>
            <a:ahLst/>
            <a:cxnLst/>
            <a:rect r="r" b="b" t="t" l="l"/>
            <a:pathLst>
              <a:path h="8824484" w="1211750">
                <a:moveTo>
                  <a:pt x="0" y="0"/>
                </a:moveTo>
                <a:lnTo>
                  <a:pt x="1211750" y="0"/>
                </a:lnTo>
                <a:lnTo>
                  <a:pt x="1211750" y="8824484"/>
                </a:lnTo>
                <a:lnTo>
                  <a:pt x="0" y="88244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28700" y="1485900"/>
            <a:ext cx="9261350" cy="4449317"/>
          </a:xfrm>
          <a:custGeom>
            <a:avLst/>
            <a:gdLst/>
            <a:ahLst/>
            <a:cxnLst/>
            <a:rect r="r" b="b" t="t" l="l"/>
            <a:pathLst>
              <a:path h="4449317" w="9261350">
                <a:moveTo>
                  <a:pt x="0" y="0"/>
                </a:moveTo>
                <a:lnTo>
                  <a:pt x="9261350" y="0"/>
                </a:lnTo>
                <a:lnTo>
                  <a:pt x="9261350" y="4449317"/>
                </a:lnTo>
                <a:lnTo>
                  <a:pt x="0" y="4449317"/>
                </a:lnTo>
                <a:lnTo>
                  <a:pt x="0" y="0"/>
                </a:lnTo>
                <a:close/>
              </a:path>
            </a:pathLst>
          </a:custGeom>
          <a:blipFill>
            <a:blip r:embed="rId5"/>
            <a:stretch>
              <a:fillRect l="0" t="0" r="0" b="0"/>
            </a:stretch>
          </a:blipFill>
        </p:spPr>
      </p:sp>
      <p:sp>
        <p:nvSpPr>
          <p:cNvPr name="Freeform 4" id="4"/>
          <p:cNvSpPr/>
          <p:nvPr/>
        </p:nvSpPr>
        <p:spPr>
          <a:xfrm flipH="false" flipV="false" rot="0">
            <a:off x="271871" y="6152196"/>
            <a:ext cx="11605317" cy="2447292"/>
          </a:xfrm>
          <a:custGeom>
            <a:avLst/>
            <a:gdLst/>
            <a:ahLst/>
            <a:cxnLst/>
            <a:rect r="r" b="b" t="t" l="l"/>
            <a:pathLst>
              <a:path h="2447292" w="11605317">
                <a:moveTo>
                  <a:pt x="0" y="0"/>
                </a:moveTo>
                <a:lnTo>
                  <a:pt x="11605317" y="0"/>
                </a:lnTo>
                <a:lnTo>
                  <a:pt x="11605317" y="2447292"/>
                </a:lnTo>
                <a:lnTo>
                  <a:pt x="0" y="2447292"/>
                </a:lnTo>
                <a:lnTo>
                  <a:pt x="0" y="0"/>
                </a:lnTo>
                <a:close/>
              </a:path>
            </a:pathLst>
          </a:custGeom>
          <a:blipFill>
            <a:blip r:embed="rId6"/>
            <a:stretch>
              <a:fillRect l="0" t="0" r="0" b="0"/>
            </a:stretch>
          </a:blipFill>
        </p:spPr>
      </p:sp>
      <p:sp>
        <p:nvSpPr>
          <p:cNvPr name="Freeform 5" id="5"/>
          <p:cNvSpPr/>
          <p:nvPr/>
        </p:nvSpPr>
        <p:spPr>
          <a:xfrm flipH="false" flipV="false" rot="0">
            <a:off x="11254910" y="2921930"/>
            <a:ext cx="6392539" cy="1278508"/>
          </a:xfrm>
          <a:custGeom>
            <a:avLst/>
            <a:gdLst/>
            <a:ahLst/>
            <a:cxnLst/>
            <a:rect r="r" b="b" t="t" l="l"/>
            <a:pathLst>
              <a:path h="1278508" w="6392539">
                <a:moveTo>
                  <a:pt x="0" y="0"/>
                </a:moveTo>
                <a:lnTo>
                  <a:pt x="6392539" y="0"/>
                </a:lnTo>
                <a:lnTo>
                  <a:pt x="6392539" y="1278508"/>
                </a:lnTo>
                <a:lnTo>
                  <a:pt x="0" y="1278508"/>
                </a:lnTo>
                <a:lnTo>
                  <a:pt x="0" y="0"/>
                </a:lnTo>
                <a:close/>
              </a:path>
            </a:pathLst>
          </a:custGeom>
          <a:blipFill>
            <a:blip r:embed="rId7"/>
            <a:stretch>
              <a:fillRect l="0" t="0" r="0" b="0"/>
            </a:stretch>
          </a:blipFill>
        </p:spPr>
      </p:sp>
      <p:sp>
        <p:nvSpPr>
          <p:cNvPr name="Freeform 6" id="6"/>
          <p:cNvSpPr/>
          <p:nvPr/>
        </p:nvSpPr>
        <p:spPr>
          <a:xfrm flipH="false" flipV="false" rot="0">
            <a:off x="12595516" y="6539659"/>
            <a:ext cx="4663784" cy="1672367"/>
          </a:xfrm>
          <a:custGeom>
            <a:avLst/>
            <a:gdLst/>
            <a:ahLst/>
            <a:cxnLst/>
            <a:rect r="r" b="b" t="t" l="l"/>
            <a:pathLst>
              <a:path h="1672367" w="4663784">
                <a:moveTo>
                  <a:pt x="0" y="0"/>
                </a:moveTo>
                <a:lnTo>
                  <a:pt x="4663784" y="0"/>
                </a:lnTo>
                <a:lnTo>
                  <a:pt x="4663784" y="1672367"/>
                </a:lnTo>
                <a:lnTo>
                  <a:pt x="0" y="1672367"/>
                </a:lnTo>
                <a:lnTo>
                  <a:pt x="0" y="0"/>
                </a:lnTo>
                <a:close/>
              </a:path>
            </a:pathLst>
          </a:custGeom>
          <a:blipFill>
            <a:blip r:embed="rId8"/>
            <a:stretch>
              <a:fillRect l="0" t="0" r="0" b="0"/>
            </a:stretch>
          </a:blipFill>
        </p:spPr>
      </p:sp>
      <p:sp>
        <p:nvSpPr>
          <p:cNvPr name="TextBox 7" id="7"/>
          <p:cNvSpPr txBox="true"/>
          <p:nvPr/>
        </p:nvSpPr>
        <p:spPr>
          <a:xfrm rot="0">
            <a:off x="997382" y="356896"/>
            <a:ext cx="15225150" cy="942975"/>
          </a:xfrm>
          <a:prstGeom prst="rect">
            <a:avLst/>
          </a:prstGeom>
        </p:spPr>
        <p:txBody>
          <a:bodyPr anchor="t" rtlCol="false" tIns="0" lIns="0" bIns="0" rIns="0">
            <a:spAutoFit/>
          </a:bodyPr>
          <a:lstStyle/>
          <a:p>
            <a:pPr algn="l">
              <a:lnSpc>
                <a:spcPts val="7200"/>
              </a:lnSpc>
            </a:pPr>
            <a:r>
              <a:rPr lang="en-US" b="true" sz="6000">
                <a:solidFill>
                  <a:srgbClr val="0C343D"/>
                </a:solidFill>
                <a:latin typeface="Arimo Bold"/>
                <a:ea typeface="Arimo Bold"/>
                <a:cs typeface="Arimo Bold"/>
                <a:sym typeface="Arimo Bold"/>
              </a:rPr>
              <a:t>Conclusion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3F7F8"/>
        </a:solidFill>
      </p:bgPr>
    </p:bg>
    <p:spTree>
      <p:nvGrpSpPr>
        <p:cNvPr id="1" name=""/>
        <p:cNvGrpSpPr/>
        <p:nvPr/>
      </p:nvGrpSpPr>
      <p:grpSpPr>
        <a:xfrm>
          <a:off x="0" y="0"/>
          <a:ext cx="0" cy="0"/>
          <a:chOff x="0" y="0"/>
          <a:chExt cx="0" cy="0"/>
        </a:xfrm>
      </p:grpSpPr>
      <p:sp>
        <p:nvSpPr>
          <p:cNvPr name="Freeform 2" id="2"/>
          <p:cNvSpPr/>
          <p:nvPr/>
        </p:nvSpPr>
        <p:spPr>
          <a:xfrm flipH="false" flipV="false" rot="0">
            <a:off x="358486" y="3543782"/>
            <a:ext cx="800898" cy="5866290"/>
          </a:xfrm>
          <a:custGeom>
            <a:avLst/>
            <a:gdLst/>
            <a:ahLst/>
            <a:cxnLst/>
            <a:rect r="r" b="b" t="t" l="l"/>
            <a:pathLst>
              <a:path h="5866290" w="800898">
                <a:moveTo>
                  <a:pt x="0" y="0"/>
                </a:moveTo>
                <a:lnTo>
                  <a:pt x="800898" y="0"/>
                </a:lnTo>
                <a:lnTo>
                  <a:pt x="800898" y="5866290"/>
                </a:lnTo>
                <a:lnTo>
                  <a:pt x="0" y="58662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a:off x="-1624288" y="-275527"/>
            <a:ext cx="4202700" cy="1497300"/>
          </a:xfrm>
          <a:prstGeom prst="line">
            <a:avLst/>
          </a:prstGeom>
          <a:ln cap="rnd" w="19050">
            <a:solidFill>
              <a:srgbClr val="45818E"/>
            </a:solidFill>
            <a:prstDash val="solid"/>
            <a:headEnd type="none" len="sm" w="sm"/>
            <a:tailEnd type="oval" len="lg" w="lg"/>
          </a:ln>
        </p:spPr>
      </p:sp>
      <p:sp>
        <p:nvSpPr>
          <p:cNvPr name="AutoShape 4" id="4"/>
          <p:cNvSpPr/>
          <p:nvPr/>
        </p:nvSpPr>
        <p:spPr>
          <a:xfrm rot="1101336">
            <a:off x="-755634" y="331625"/>
            <a:ext cx="3973469" cy="0"/>
          </a:xfrm>
          <a:prstGeom prst="line">
            <a:avLst/>
          </a:prstGeom>
          <a:ln cap="rnd" w="19050">
            <a:solidFill>
              <a:srgbClr val="45818E"/>
            </a:solidFill>
            <a:prstDash val="solid"/>
            <a:headEnd type="none" len="sm" w="sm"/>
            <a:tailEnd type="oval" len="lg" w="lg"/>
          </a:ln>
        </p:spPr>
      </p:sp>
      <p:sp>
        <p:nvSpPr>
          <p:cNvPr name="TextBox 5" id="5"/>
          <p:cNvSpPr txBox="true"/>
          <p:nvPr/>
        </p:nvSpPr>
        <p:spPr>
          <a:xfrm rot="0">
            <a:off x="-300383" y="2817739"/>
            <a:ext cx="9075750" cy="1876425"/>
          </a:xfrm>
          <a:prstGeom prst="rect">
            <a:avLst/>
          </a:prstGeom>
        </p:spPr>
        <p:txBody>
          <a:bodyPr anchor="t" rtlCol="false" tIns="0" lIns="0" bIns="0" rIns="0">
            <a:spAutoFit/>
          </a:bodyPr>
          <a:lstStyle/>
          <a:p>
            <a:pPr algn="r">
              <a:lnSpc>
                <a:spcPts val="14400"/>
              </a:lnSpc>
            </a:pPr>
            <a:r>
              <a:rPr lang="en-US" b="true" sz="12000">
                <a:solidFill>
                  <a:srgbClr val="0C343D"/>
                </a:solidFill>
                <a:latin typeface="Arimo Bold"/>
                <a:ea typeface="Arimo Bold"/>
                <a:cs typeface="Arimo Bold"/>
                <a:sym typeface="Arimo Bold"/>
              </a:rPr>
              <a:t>Thanks!</a:t>
            </a:r>
          </a:p>
        </p:txBody>
      </p:sp>
      <p:sp>
        <p:nvSpPr>
          <p:cNvPr name="TextBox 6" id="6"/>
          <p:cNvSpPr txBox="true"/>
          <p:nvPr/>
        </p:nvSpPr>
        <p:spPr>
          <a:xfrm rot="0">
            <a:off x="3429290" y="4873780"/>
            <a:ext cx="9075750" cy="1036320"/>
          </a:xfrm>
          <a:prstGeom prst="rect">
            <a:avLst/>
          </a:prstGeom>
        </p:spPr>
        <p:txBody>
          <a:bodyPr anchor="t" rtlCol="false" tIns="0" lIns="0" bIns="0" rIns="0">
            <a:spAutoFit/>
          </a:bodyPr>
          <a:lstStyle/>
          <a:p>
            <a:pPr algn="just">
              <a:lnSpc>
                <a:spcPts val="4140"/>
              </a:lnSpc>
            </a:pPr>
            <a:r>
              <a:rPr lang="en-US" b="true" sz="3000">
                <a:solidFill>
                  <a:srgbClr val="0C343D"/>
                </a:solidFill>
                <a:latin typeface="Lato Bold"/>
                <a:ea typeface="Lato Bold"/>
                <a:cs typeface="Lato Bold"/>
                <a:sym typeface="Lato Bold"/>
              </a:rPr>
              <a:t>Do you have any questions?</a:t>
            </a:r>
          </a:p>
          <a:p>
            <a:pPr algn="just">
              <a:lnSpc>
                <a:spcPts val="4140"/>
              </a:lnSpc>
            </a:pPr>
          </a:p>
        </p:txBody>
      </p:sp>
      <p:sp>
        <p:nvSpPr>
          <p:cNvPr name="Freeform 7" id="7"/>
          <p:cNvSpPr/>
          <p:nvPr/>
        </p:nvSpPr>
        <p:spPr>
          <a:xfrm flipH="false" flipV="false" rot="0">
            <a:off x="10086068" y="1724571"/>
            <a:ext cx="6865968" cy="4992590"/>
          </a:xfrm>
          <a:custGeom>
            <a:avLst/>
            <a:gdLst/>
            <a:ahLst/>
            <a:cxnLst/>
            <a:rect r="r" b="b" t="t" l="l"/>
            <a:pathLst>
              <a:path h="4992590" w="6865968">
                <a:moveTo>
                  <a:pt x="0" y="0"/>
                </a:moveTo>
                <a:lnTo>
                  <a:pt x="6865968" y="0"/>
                </a:lnTo>
                <a:lnTo>
                  <a:pt x="6865968" y="4992590"/>
                </a:lnTo>
                <a:lnTo>
                  <a:pt x="0" y="49925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0269942" y="1946662"/>
            <a:ext cx="6498220" cy="3963438"/>
          </a:xfrm>
          <a:custGeom>
            <a:avLst/>
            <a:gdLst/>
            <a:ahLst/>
            <a:cxnLst/>
            <a:rect r="r" b="b" t="t" l="l"/>
            <a:pathLst>
              <a:path h="3963438" w="6498220">
                <a:moveTo>
                  <a:pt x="0" y="0"/>
                </a:moveTo>
                <a:lnTo>
                  <a:pt x="6498220" y="0"/>
                </a:lnTo>
                <a:lnTo>
                  <a:pt x="6498220" y="3963438"/>
                </a:lnTo>
                <a:lnTo>
                  <a:pt x="0" y="3963438"/>
                </a:lnTo>
                <a:lnTo>
                  <a:pt x="0" y="0"/>
                </a:lnTo>
                <a:close/>
              </a:path>
            </a:pathLst>
          </a:custGeom>
          <a:blipFill>
            <a:blip r:embed="rId7"/>
            <a:stretch>
              <a:fillRect l="-4219" t="0" r="-4212" b="0"/>
            </a:stretch>
          </a:blipFill>
        </p:spPr>
      </p:sp>
      <p:sp>
        <p:nvSpPr>
          <p:cNvPr name="Freeform 9" id="9"/>
          <p:cNvSpPr/>
          <p:nvPr/>
        </p:nvSpPr>
        <p:spPr>
          <a:xfrm flipH="false" flipV="false" rot="0">
            <a:off x="1889742" y="7071231"/>
            <a:ext cx="1227008" cy="1227008"/>
          </a:xfrm>
          <a:custGeom>
            <a:avLst/>
            <a:gdLst/>
            <a:ahLst/>
            <a:cxnLst/>
            <a:rect r="r" b="b" t="t" l="l"/>
            <a:pathLst>
              <a:path h="1227008" w="1227008">
                <a:moveTo>
                  <a:pt x="0" y="0"/>
                </a:moveTo>
                <a:lnTo>
                  <a:pt x="1227008" y="0"/>
                </a:lnTo>
                <a:lnTo>
                  <a:pt x="1227008" y="1227007"/>
                </a:lnTo>
                <a:lnTo>
                  <a:pt x="0" y="1227007"/>
                </a:lnTo>
                <a:lnTo>
                  <a:pt x="0" y="0"/>
                </a:lnTo>
                <a:close/>
              </a:path>
            </a:pathLst>
          </a:custGeom>
          <a:blipFill>
            <a:blip r:embed="rId8"/>
            <a:stretch>
              <a:fillRect l="0" t="0" r="0" b="0"/>
            </a:stretch>
          </a:blipFill>
        </p:spPr>
      </p:sp>
      <p:sp>
        <p:nvSpPr>
          <p:cNvPr name="TextBox 10" id="10"/>
          <p:cNvSpPr txBox="true"/>
          <p:nvPr/>
        </p:nvSpPr>
        <p:spPr>
          <a:xfrm rot="0">
            <a:off x="3280259" y="7426226"/>
            <a:ext cx="15225151" cy="469392"/>
          </a:xfrm>
          <a:prstGeom prst="rect">
            <a:avLst/>
          </a:prstGeom>
        </p:spPr>
        <p:txBody>
          <a:bodyPr anchor="t" rtlCol="false" tIns="0" lIns="0" bIns="0" rIns="0">
            <a:spAutoFit/>
          </a:bodyPr>
          <a:lstStyle/>
          <a:p>
            <a:pPr algn="l">
              <a:lnSpc>
                <a:spcPts val="3863"/>
              </a:lnSpc>
            </a:pPr>
            <a:r>
              <a:rPr lang="en-US" sz="2799">
                <a:solidFill>
                  <a:srgbClr val="334157"/>
                </a:solidFill>
                <a:latin typeface="DM Sans"/>
                <a:ea typeface="DM Sans"/>
                <a:cs typeface="DM Sans"/>
                <a:sym typeface="DM Sans"/>
              </a:rPr>
              <a:t>https://github.com/ammar-abdelghany30/uber-data-analysis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DAHPlchjQBM</dc:identifier>
  <dcterms:modified xsi:type="dcterms:W3CDTF">2011-08-01T06:04:30Z</dcterms:modified>
  <cp:revision>1</cp:revision>
  <dc:title>Copy of AI Essentials Workshop by Slidesgo.pptx</dc:title>
</cp:coreProperties>
</file>