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Baloo" charset="1" panose="03080902040302020200"/>
      <p:regular r:id="rId25"/>
    </p:embeddedFont>
    <p:embeddedFont>
      <p:font typeface="DM Sans" charset="1" panose="00000000000000000000"/>
      <p:regular r:id="rId26"/>
    </p:embeddedFont>
    <p:embeddedFont>
      <p:font typeface="DM Sans Bold" charset="1" panose="000000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4.xml" Type="http://schemas.openxmlformats.org/officeDocument/2006/relationships/notesSlide"/><Relationship Id="rId41" Target="notesSlides/notesSlide15.xml" Type="http://schemas.openxmlformats.org/officeDocument/2006/relationships/notesSlide"/><Relationship Id="rId42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jpe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11" Target="../media/image35.png" Type="http://schemas.openxmlformats.org/officeDocument/2006/relationships/image"/><Relationship Id="rId12" Target="../media/image36.svg" Type="http://schemas.openxmlformats.org/officeDocument/2006/relationships/image"/><Relationship Id="rId13" Target="../media/image37.png" Type="http://schemas.openxmlformats.org/officeDocument/2006/relationships/image"/><Relationship Id="rId14" Target="../media/image38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3.png" Type="http://schemas.openxmlformats.org/officeDocument/2006/relationships/image"/><Relationship Id="rId8" Target="../media/image44.sv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3.png" Type="http://schemas.openxmlformats.org/officeDocument/2006/relationships/image"/><Relationship Id="rId8" Target="../media/image44.sv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png" Type="http://schemas.openxmlformats.org/officeDocument/2006/relationships/image"/><Relationship Id="rId12" Target="../media/image56.pn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52.png" Type="http://schemas.openxmlformats.org/officeDocument/2006/relationships/image"/><Relationship Id="rId8" Target="../media/image53.svg" Type="http://schemas.openxmlformats.org/officeDocument/2006/relationships/image"/><Relationship Id="rId9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svg" Type="http://schemas.openxmlformats.org/officeDocument/2006/relationships/image"/><Relationship Id="rId12" Target="../media/image65.png" Type="http://schemas.openxmlformats.org/officeDocument/2006/relationships/image"/><Relationship Id="rId13" Target="../media/image66.svg" Type="http://schemas.openxmlformats.org/officeDocument/2006/relationships/image"/><Relationship Id="rId14" Target="../media/image67.png" Type="http://schemas.openxmlformats.org/officeDocument/2006/relationships/image"/><Relationship Id="rId15" Target="../media/image68.svg" Type="http://schemas.openxmlformats.org/officeDocument/2006/relationships/image"/><Relationship Id="rId16" Target="../media/image69.png" Type="http://schemas.openxmlformats.org/officeDocument/2006/relationships/image"/><Relationship Id="rId17" Target="../media/image70.svg" Type="http://schemas.openxmlformats.org/officeDocument/2006/relationships/image"/><Relationship Id="rId18" Target="../media/image71.png" Type="http://schemas.openxmlformats.org/officeDocument/2006/relationships/image"/><Relationship Id="rId19" Target="../media/image72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3.jpeg" Type="http://schemas.openxmlformats.org/officeDocument/2006/relationships/image"/><Relationship Id="rId6" Target="../media/image59.png" Type="http://schemas.openxmlformats.org/officeDocument/2006/relationships/image"/><Relationship Id="rId7" Target="../media/image60.svg" Type="http://schemas.openxmlformats.org/officeDocument/2006/relationships/image"/><Relationship Id="rId8" Target="../media/image61.png" Type="http://schemas.openxmlformats.org/officeDocument/2006/relationships/image"/><Relationship Id="rId9" Target="../media/image6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73.png" Type="http://schemas.openxmlformats.org/officeDocument/2006/relationships/image"/><Relationship Id="rId4" Target="../media/image74.svg" Type="http://schemas.openxmlformats.org/officeDocument/2006/relationships/image"/><Relationship Id="rId5" Target="../media/image75.png" Type="http://schemas.openxmlformats.org/officeDocument/2006/relationships/image"/><Relationship Id="rId6" Target="../media/image76.svg" Type="http://schemas.openxmlformats.org/officeDocument/2006/relationships/image"/><Relationship Id="rId7" Target="../media/image77.png" Type="http://schemas.openxmlformats.org/officeDocument/2006/relationships/image"/><Relationship Id="rId8" Target="../media/image78.svg" Type="http://schemas.openxmlformats.org/officeDocument/2006/relationships/image"/><Relationship Id="rId9" Target="../media/image7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73.png" Type="http://schemas.openxmlformats.org/officeDocument/2006/relationships/image"/><Relationship Id="rId4" Target="../media/image74.svg" Type="http://schemas.openxmlformats.org/officeDocument/2006/relationships/image"/><Relationship Id="rId5" Target="../media/image75.png" Type="http://schemas.openxmlformats.org/officeDocument/2006/relationships/image"/><Relationship Id="rId6" Target="../media/image76.svg" Type="http://schemas.openxmlformats.org/officeDocument/2006/relationships/image"/><Relationship Id="rId7" Target="../media/image77.png" Type="http://schemas.openxmlformats.org/officeDocument/2006/relationships/image"/><Relationship Id="rId8" Target="../media/image78.svg" Type="http://schemas.openxmlformats.org/officeDocument/2006/relationships/image"/><Relationship Id="rId9" Target="../media/image8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2.pn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73.png" Type="http://schemas.openxmlformats.org/officeDocument/2006/relationships/image"/><Relationship Id="rId4" Target="../media/image74.svg" Type="http://schemas.openxmlformats.org/officeDocument/2006/relationships/image"/><Relationship Id="rId5" Target="../media/image75.png" Type="http://schemas.openxmlformats.org/officeDocument/2006/relationships/image"/><Relationship Id="rId6" Target="../media/image76.svg" Type="http://schemas.openxmlformats.org/officeDocument/2006/relationships/image"/><Relationship Id="rId7" Target="../media/image77.png" Type="http://schemas.openxmlformats.org/officeDocument/2006/relationships/image"/><Relationship Id="rId8" Target="../media/image78.svg" Type="http://schemas.openxmlformats.org/officeDocument/2006/relationships/image"/><Relationship Id="rId9" Target="../media/image8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73.png" Type="http://schemas.openxmlformats.org/officeDocument/2006/relationships/image"/><Relationship Id="rId4" Target="../media/image74.svg" Type="http://schemas.openxmlformats.org/officeDocument/2006/relationships/image"/><Relationship Id="rId5" Target="../media/image75.png" Type="http://schemas.openxmlformats.org/officeDocument/2006/relationships/image"/><Relationship Id="rId6" Target="../media/image76.svg" Type="http://schemas.openxmlformats.org/officeDocument/2006/relationships/image"/><Relationship Id="rId7" Target="../media/image77.png" Type="http://schemas.openxmlformats.org/officeDocument/2006/relationships/image"/><Relationship Id="rId8" Target="../media/image78.svg" Type="http://schemas.openxmlformats.org/officeDocument/2006/relationships/image"/><Relationship Id="rId9" Target="../media/image8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84.png" Type="http://schemas.openxmlformats.org/officeDocument/2006/relationships/image"/><Relationship Id="rId4" Target="../media/image85.svg" Type="http://schemas.openxmlformats.org/officeDocument/2006/relationships/image"/><Relationship Id="rId5" Target="../media/image86.png" Type="http://schemas.openxmlformats.org/officeDocument/2006/relationships/image"/><Relationship Id="rId6" Target="../media/image87.svg" Type="http://schemas.openxmlformats.org/officeDocument/2006/relationships/image"/><Relationship Id="rId7" Target="../media/image88.png" Type="http://schemas.openxmlformats.org/officeDocument/2006/relationships/image"/><Relationship Id="rId8" Target="../media/image89.svg" Type="http://schemas.openxmlformats.org/officeDocument/2006/relationships/image"/><Relationship Id="rId9" Target="../media/image9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91.png" Type="http://schemas.openxmlformats.org/officeDocument/2006/relationships/image"/><Relationship Id="rId4" Target="../media/image92.svg" Type="http://schemas.openxmlformats.org/officeDocument/2006/relationships/image"/><Relationship Id="rId5" Target="../media/image93.png" Type="http://schemas.openxmlformats.org/officeDocument/2006/relationships/image"/><Relationship Id="rId6" Target="../media/image94.svg" Type="http://schemas.openxmlformats.org/officeDocument/2006/relationships/image"/><Relationship Id="rId7" Target="../media/image9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96.png" Type="http://schemas.openxmlformats.org/officeDocument/2006/relationships/image"/><Relationship Id="rId4" Target="../media/image97.svg" Type="http://schemas.openxmlformats.org/officeDocument/2006/relationships/image"/><Relationship Id="rId5" Target="../media/image3.jpeg" Type="http://schemas.openxmlformats.org/officeDocument/2006/relationships/image"/><Relationship Id="rId6" Target="../media/image98.png" Type="http://schemas.openxmlformats.org/officeDocument/2006/relationships/image"/><Relationship Id="rId7" Target="../media/image99.svg" Type="http://schemas.openxmlformats.org/officeDocument/2006/relationships/image"/><Relationship Id="rId8" Target="../media/image10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79705" y="-5495049"/>
            <a:ext cx="24557441" cy="20951609"/>
          </a:xfrm>
          <a:custGeom>
            <a:avLst/>
            <a:gdLst/>
            <a:ahLst/>
            <a:cxnLst/>
            <a:rect r="r" b="b" t="t" l="l"/>
            <a:pathLst>
              <a:path h="20951609" w="24557441">
                <a:moveTo>
                  <a:pt x="0" y="0"/>
                </a:moveTo>
                <a:lnTo>
                  <a:pt x="24557441" y="0"/>
                </a:lnTo>
                <a:lnTo>
                  <a:pt x="24557441" y="20951609"/>
                </a:lnTo>
                <a:lnTo>
                  <a:pt x="0" y="209516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660051" y="919001"/>
            <a:ext cx="2524201" cy="700802"/>
            <a:chOff x="0" y="0"/>
            <a:chExt cx="3365602" cy="9344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65627" cy="934466"/>
            </a:xfrm>
            <a:custGeom>
              <a:avLst/>
              <a:gdLst/>
              <a:ahLst/>
              <a:cxnLst/>
              <a:rect r="r" b="b" t="t" l="l"/>
              <a:pathLst>
                <a:path h="934466" w="3365627">
                  <a:moveTo>
                    <a:pt x="0" y="467233"/>
                  </a:moveTo>
                  <a:cubicBezTo>
                    <a:pt x="0" y="209169"/>
                    <a:pt x="209169" y="0"/>
                    <a:pt x="467233" y="0"/>
                  </a:cubicBezTo>
                  <a:lnTo>
                    <a:pt x="2898394" y="0"/>
                  </a:lnTo>
                  <a:cubicBezTo>
                    <a:pt x="3156458" y="0"/>
                    <a:pt x="3365627" y="209169"/>
                    <a:pt x="3365627" y="467233"/>
                  </a:cubicBezTo>
                  <a:cubicBezTo>
                    <a:pt x="3365627" y="725297"/>
                    <a:pt x="3156458" y="934466"/>
                    <a:pt x="2898394" y="934466"/>
                  </a:cubicBezTo>
                  <a:lnTo>
                    <a:pt x="467233" y="934466"/>
                  </a:lnTo>
                  <a:cubicBezTo>
                    <a:pt x="209169" y="934339"/>
                    <a:pt x="0" y="725170"/>
                    <a:pt x="0" y="467233"/>
                  </a:cubicBezTo>
                  <a:close/>
                </a:path>
              </a:pathLst>
            </a:custGeom>
            <a:solidFill>
              <a:srgbClr val="33415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04332" y="4517525"/>
            <a:ext cx="7725004" cy="3109620"/>
            <a:chOff x="0" y="0"/>
            <a:chExt cx="10300005" cy="41461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00000" cy="4146155"/>
            </a:xfrm>
            <a:custGeom>
              <a:avLst/>
              <a:gdLst/>
              <a:ahLst/>
              <a:cxnLst/>
              <a:rect r="r" b="b" t="t" l="l"/>
              <a:pathLst>
                <a:path h="4146155" w="10300000">
                  <a:moveTo>
                    <a:pt x="0" y="0"/>
                  </a:moveTo>
                  <a:lnTo>
                    <a:pt x="10300000" y="0"/>
                  </a:lnTo>
                  <a:lnTo>
                    <a:pt x="10300000" y="4146155"/>
                  </a:lnTo>
                  <a:lnTo>
                    <a:pt x="0" y="414615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862" r="0" b="70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161925"/>
              <a:ext cx="10300005" cy="398423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976"/>
                </a:lnSpc>
              </a:pPr>
              <a:r>
                <a:rPr lang="en-US" sz="8800">
                  <a:solidFill>
                    <a:srgbClr val="334157"/>
                  </a:solidFill>
                  <a:latin typeface="Baloo"/>
                  <a:ea typeface="Baloo"/>
                  <a:cs typeface="Baloo"/>
                  <a:sym typeface="Baloo"/>
                </a:rPr>
                <a:t>Explor</a:t>
              </a:r>
              <a:r>
                <a:rPr lang="en-US" sz="8800">
                  <a:solidFill>
                    <a:srgbClr val="334157"/>
                  </a:solidFill>
                  <a:latin typeface="Baloo"/>
                  <a:ea typeface="Baloo"/>
                  <a:cs typeface="Baloo"/>
                  <a:sym typeface="Baloo"/>
                </a:rPr>
                <a:t>atory Data Analysis 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95757" y="7157754"/>
            <a:ext cx="7542152" cy="46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Uber Fare Prediction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793063" y="1068458"/>
            <a:ext cx="2258177" cy="363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3"/>
              </a:lnSpc>
            </a:pPr>
            <a:r>
              <a:rPr lang="en-US" sz="2162">
                <a:solidFill>
                  <a:srgbClr val="FDFDFD"/>
                </a:solidFill>
                <a:latin typeface="Baloo"/>
                <a:ea typeface="Baloo"/>
                <a:cs typeface="Baloo"/>
                <a:sym typeface="Baloo"/>
              </a:rPr>
              <a:t>Cellula Task1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531344" y="1520876"/>
            <a:ext cx="6493602" cy="6893271"/>
          </a:xfrm>
          <a:custGeom>
            <a:avLst/>
            <a:gdLst/>
            <a:ahLst/>
            <a:cxnLst/>
            <a:rect r="r" b="b" t="t" l="l"/>
            <a:pathLst>
              <a:path h="6893271" w="6493602">
                <a:moveTo>
                  <a:pt x="0" y="0"/>
                </a:moveTo>
                <a:lnTo>
                  <a:pt x="6493602" y="0"/>
                </a:lnTo>
                <a:lnTo>
                  <a:pt x="6493602" y="6893271"/>
                </a:lnTo>
                <a:lnTo>
                  <a:pt x="0" y="68932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47338" y="7961519"/>
            <a:ext cx="7542152" cy="452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700">
                <a:solidFill>
                  <a:srgbClr val="6389EB"/>
                </a:solidFill>
                <a:latin typeface="DM Sans"/>
                <a:ea typeface="DM Sans"/>
                <a:cs typeface="DM Sans"/>
                <a:sym typeface="DM Sans"/>
              </a:rPr>
              <a:t>Prepared by : Ammar Mohamed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75488" y="-4471168"/>
            <a:ext cx="22609321" cy="16569328"/>
          </a:xfrm>
          <a:custGeom>
            <a:avLst/>
            <a:gdLst/>
            <a:ahLst/>
            <a:cxnLst/>
            <a:rect r="r" b="b" t="t" l="l"/>
            <a:pathLst>
              <a:path h="16569328" w="22609321">
                <a:moveTo>
                  <a:pt x="0" y="0"/>
                </a:moveTo>
                <a:lnTo>
                  <a:pt x="22609321" y="0"/>
                </a:lnTo>
                <a:lnTo>
                  <a:pt x="22609321" y="16569328"/>
                </a:lnTo>
                <a:lnTo>
                  <a:pt x="0" y="165693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8860" y="7966243"/>
            <a:ext cx="3055020" cy="2664228"/>
          </a:xfrm>
          <a:custGeom>
            <a:avLst/>
            <a:gdLst/>
            <a:ahLst/>
            <a:cxnLst/>
            <a:rect r="r" b="b" t="t" l="l"/>
            <a:pathLst>
              <a:path h="2664228" w="3055020">
                <a:moveTo>
                  <a:pt x="0" y="0"/>
                </a:moveTo>
                <a:lnTo>
                  <a:pt x="3055020" y="0"/>
                </a:lnTo>
                <a:lnTo>
                  <a:pt x="3055020" y="2664229"/>
                </a:lnTo>
                <a:lnTo>
                  <a:pt x="0" y="26642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6651" y="199996"/>
            <a:ext cx="16997353" cy="8756094"/>
          </a:xfrm>
          <a:custGeom>
            <a:avLst/>
            <a:gdLst/>
            <a:ahLst/>
            <a:cxnLst/>
            <a:rect r="r" b="b" t="t" l="l"/>
            <a:pathLst>
              <a:path h="8756094" w="16997353">
                <a:moveTo>
                  <a:pt x="0" y="0"/>
                </a:moveTo>
                <a:lnTo>
                  <a:pt x="16997353" y="0"/>
                </a:lnTo>
                <a:lnTo>
                  <a:pt x="16997353" y="8756095"/>
                </a:lnTo>
                <a:lnTo>
                  <a:pt x="0" y="87560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840583" y="2231287"/>
            <a:ext cx="5915997" cy="1513800"/>
            <a:chOff x="0" y="0"/>
            <a:chExt cx="7887995" cy="201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88000" cy="2018402"/>
            </a:xfrm>
            <a:custGeom>
              <a:avLst/>
              <a:gdLst/>
              <a:ahLst/>
              <a:cxnLst/>
              <a:rect r="r" b="b" t="t" l="l"/>
              <a:pathLst>
                <a:path h="2018402" w="7888000">
                  <a:moveTo>
                    <a:pt x="0" y="0"/>
                  </a:moveTo>
                  <a:lnTo>
                    <a:pt x="7888000" y="0"/>
                  </a:lnTo>
                  <a:lnTo>
                    <a:pt x="7888000" y="2018402"/>
                  </a:lnTo>
                  <a:lnTo>
                    <a:pt x="0" y="201840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6148" r="0" b="-2614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7887995" cy="207555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795"/>
                </a:lnSpc>
              </a:pPr>
              <a:r>
                <a:rPr lang="en-US" sz="4200">
                  <a:solidFill>
                    <a:srgbClr val="334157"/>
                  </a:solidFill>
                  <a:latin typeface="Baloo"/>
                  <a:ea typeface="Baloo"/>
                  <a:cs typeface="Baloo"/>
                  <a:sym typeface="Baloo"/>
                </a:rPr>
                <a:t>Basic Questions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61898" y="2534431"/>
            <a:ext cx="1334995" cy="1421540"/>
            <a:chOff x="0" y="0"/>
            <a:chExt cx="1779994" cy="18953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80000" cy="1895389"/>
            </a:xfrm>
            <a:custGeom>
              <a:avLst/>
              <a:gdLst/>
              <a:ahLst/>
              <a:cxnLst/>
              <a:rect r="r" b="b" t="t" l="l"/>
              <a:pathLst>
                <a:path h="1895389" w="1780000">
                  <a:moveTo>
                    <a:pt x="0" y="0"/>
                  </a:moveTo>
                  <a:lnTo>
                    <a:pt x="1780000" y="0"/>
                  </a:lnTo>
                  <a:lnTo>
                    <a:pt x="1780000" y="1895389"/>
                  </a:lnTo>
                  <a:lnTo>
                    <a:pt x="0" y="1895389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6035" t="0" r="-36035" b="3702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779994" cy="190491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4C69B2"/>
                  </a:solidFill>
                  <a:latin typeface="Baloo"/>
                  <a:ea typeface="Baloo"/>
                  <a:cs typeface="Baloo"/>
                  <a:sym typeface="Baloo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957332" y="2758515"/>
            <a:ext cx="5915997" cy="1677010"/>
            <a:chOff x="0" y="0"/>
            <a:chExt cx="7887995" cy="22360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88000" cy="2236014"/>
            </a:xfrm>
            <a:custGeom>
              <a:avLst/>
              <a:gdLst/>
              <a:ahLst/>
              <a:cxnLst/>
              <a:rect r="r" b="b" t="t" l="l"/>
              <a:pathLst>
                <a:path h="2236014" w="7888000">
                  <a:moveTo>
                    <a:pt x="0" y="0"/>
                  </a:moveTo>
                  <a:lnTo>
                    <a:pt x="7888000" y="0"/>
                  </a:lnTo>
                  <a:lnTo>
                    <a:pt x="7888000" y="2236014"/>
                  </a:lnTo>
                  <a:lnTo>
                    <a:pt x="0" y="22360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3603" r="0" b="-1387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887995" cy="229316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795"/>
                </a:lnSpc>
              </a:pPr>
              <a:r>
                <a:rPr lang="en-US" sz="4200">
                  <a:solidFill>
                    <a:srgbClr val="334157"/>
                  </a:solidFill>
                  <a:latin typeface="Baloo"/>
                  <a:ea typeface="Baloo"/>
                  <a:cs typeface="Baloo"/>
                  <a:sym typeface="Baloo"/>
                </a:rPr>
                <a:t>Data Cleaning Stage</a:t>
              </a:r>
            </a:p>
            <a:p>
              <a:pPr algn="l">
                <a:lnSpc>
                  <a:spcPts val="5795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31430" y="971950"/>
            <a:ext cx="15225151" cy="972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4C69B2"/>
                </a:solidFill>
                <a:latin typeface="Baloo"/>
                <a:ea typeface="Baloo"/>
                <a:cs typeface="Baloo"/>
                <a:sym typeface="Baloo"/>
              </a:rPr>
              <a:t>Table of contents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36651" y="6404517"/>
            <a:ext cx="5733155" cy="46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discovering the good news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56160" y="3554987"/>
            <a:ext cx="5733155" cy="46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what i find weird in our dataset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55919" y="3549395"/>
            <a:ext cx="5733155" cy="46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whose mentioned in task pdf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701656" y="5250016"/>
            <a:ext cx="1334995" cy="1351788"/>
            <a:chOff x="0" y="0"/>
            <a:chExt cx="1779994" cy="18023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80000" cy="1802387"/>
            </a:xfrm>
            <a:custGeom>
              <a:avLst/>
              <a:gdLst/>
              <a:ahLst/>
              <a:cxnLst/>
              <a:rect r="r" b="b" t="t" l="l"/>
              <a:pathLst>
                <a:path h="1802387" w="1780000">
                  <a:moveTo>
                    <a:pt x="0" y="0"/>
                  </a:moveTo>
                  <a:lnTo>
                    <a:pt x="1780000" y="0"/>
                  </a:lnTo>
                  <a:lnTo>
                    <a:pt x="1780000" y="1802387"/>
                  </a:lnTo>
                  <a:lnTo>
                    <a:pt x="0" y="180238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6035" t="0" r="-36035" b="3377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779994" cy="181190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4C69B2"/>
                  </a:solidFill>
                  <a:latin typeface="Baloo"/>
                  <a:ea typeface="Baloo"/>
                  <a:cs typeface="Baloo"/>
                  <a:sym typeface="Baloo"/>
                </a:rPr>
                <a:t>03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27907" y="2569307"/>
            <a:ext cx="1330204" cy="1351788"/>
            <a:chOff x="0" y="0"/>
            <a:chExt cx="1773606" cy="18023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73600" cy="1802387"/>
            </a:xfrm>
            <a:custGeom>
              <a:avLst/>
              <a:gdLst/>
              <a:ahLst/>
              <a:cxnLst/>
              <a:rect r="r" b="b" t="t" l="l"/>
              <a:pathLst>
                <a:path h="1802387" w="1773600">
                  <a:moveTo>
                    <a:pt x="0" y="0"/>
                  </a:moveTo>
                  <a:lnTo>
                    <a:pt x="1773600" y="0"/>
                  </a:lnTo>
                  <a:lnTo>
                    <a:pt x="1773600" y="1802387"/>
                  </a:lnTo>
                  <a:lnTo>
                    <a:pt x="0" y="180238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6345" t="0" r="-36345" b="3377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773606" cy="181190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4C69B2"/>
                  </a:solidFill>
                  <a:latin typeface="Baloo"/>
                  <a:ea typeface="Baloo"/>
                  <a:cs typeface="Baloo"/>
                  <a:sym typeface="Baloo"/>
                </a:rPr>
                <a:t>02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863369" y="3984492"/>
            <a:ext cx="7954430" cy="2404252"/>
            <a:chOff x="0" y="0"/>
            <a:chExt cx="8182965" cy="24733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82970" cy="2473329"/>
            </a:xfrm>
            <a:custGeom>
              <a:avLst/>
              <a:gdLst/>
              <a:ahLst/>
              <a:cxnLst/>
              <a:rect r="r" b="b" t="t" l="l"/>
              <a:pathLst>
                <a:path h="2473329" w="8182970">
                  <a:moveTo>
                    <a:pt x="0" y="0"/>
                  </a:moveTo>
                  <a:lnTo>
                    <a:pt x="8182970" y="0"/>
                  </a:lnTo>
                  <a:lnTo>
                    <a:pt x="8182970" y="2473329"/>
                  </a:lnTo>
                  <a:lnTo>
                    <a:pt x="0" y="2473329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338" r="3604" b="-294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8182965" cy="253047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795"/>
                </a:lnSpc>
              </a:pPr>
              <a:r>
                <a:rPr lang="en-US" sz="4200">
                  <a:solidFill>
                    <a:srgbClr val="334157"/>
                  </a:solidFill>
                  <a:latin typeface="Baloo"/>
                  <a:ea typeface="Baloo"/>
                  <a:cs typeface="Baloo"/>
                  <a:sym typeface="Baloo"/>
                </a:rPr>
                <a:t>More questions = More insights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07984" y="-2989745"/>
            <a:ext cx="24404517" cy="18492435"/>
          </a:xfrm>
          <a:custGeom>
            <a:avLst/>
            <a:gdLst/>
            <a:ahLst/>
            <a:cxnLst/>
            <a:rect r="r" b="b" t="t" l="l"/>
            <a:pathLst>
              <a:path h="18492435" w="24404517">
                <a:moveTo>
                  <a:pt x="0" y="0"/>
                </a:moveTo>
                <a:lnTo>
                  <a:pt x="24404517" y="0"/>
                </a:lnTo>
                <a:lnTo>
                  <a:pt x="24404517" y="18492435"/>
                </a:lnTo>
                <a:lnTo>
                  <a:pt x="0" y="184924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53370" y="6446177"/>
            <a:ext cx="3480187" cy="3635140"/>
          </a:xfrm>
          <a:custGeom>
            <a:avLst/>
            <a:gdLst/>
            <a:ahLst/>
            <a:cxnLst/>
            <a:rect r="r" b="b" t="t" l="l"/>
            <a:pathLst>
              <a:path h="3635140" w="3480187">
                <a:moveTo>
                  <a:pt x="0" y="0"/>
                </a:moveTo>
                <a:lnTo>
                  <a:pt x="3480187" y="0"/>
                </a:lnTo>
                <a:lnTo>
                  <a:pt x="3480187" y="3635140"/>
                </a:lnTo>
                <a:lnTo>
                  <a:pt x="0" y="36351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8151" y="46787"/>
            <a:ext cx="16923458" cy="8358349"/>
          </a:xfrm>
          <a:custGeom>
            <a:avLst/>
            <a:gdLst/>
            <a:ahLst/>
            <a:cxnLst/>
            <a:rect r="r" b="b" t="t" l="l"/>
            <a:pathLst>
              <a:path h="8358349" w="16923458">
                <a:moveTo>
                  <a:pt x="0" y="0"/>
                </a:moveTo>
                <a:lnTo>
                  <a:pt x="16923458" y="0"/>
                </a:lnTo>
                <a:lnTo>
                  <a:pt x="16923458" y="8358349"/>
                </a:lnTo>
                <a:lnTo>
                  <a:pt x="0" y="83583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186294" y="1637384"/>
            <a:ext cx="9333038" cy="4112134"/>
          </a:xfrm>
          <a:custGeom>
            <a:avLst/>
            <a:gdLst/>
            <a:ahLst/>
            <a:cxnLst/>
            <a:rect r="r" b="b" t="t" l="l"/>
            <a:pathLst>
              <a:path h="4112134" w="9333038">
                <a:moveTo>
                  <a:pt x="0" y="0"/>
                </a:moveTo>
                <a:lnTo>
                  <a:pt x="9333038" y="0"/>
                </a:lnTo>
                <a:lnTo>
                  <a:pt x="9333038" y="4112135"/>
                </a:lnTo>
                <a:lnTo>
                  <a:pt x="0" y="41121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424035" y="3706178"/>
            <a:ext cx="1085850" cy="437197"/>
            <a:chOff x="0" y="0"/>
            <a:chExt cx="1447800" cy="5829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3547" y="22071"/>
              <a:ext cx="1446967" cy="557478"/>
            </a:xfrm>
            <a:custGeom>
              <a:avLst/>
              <a:gdLst/>
              <a:ahLst/>
              <a:cxnLst/>
              <a:rect r="r" b="b" t="t" l="l"/>
              <a:pathLst>
                <a:path h="557478" w="1446967">
                  <a:moveTo>
                    <a:pt x="37253" y="28729"/>
                  </a:moveTo>
                  <a:cubicBezTo>
                    <a:pt x="726863" y="68099"/>
                    <a:pt x="1256453" y="-71601"/>
                    <a:pt x="1382183" y="52859"/>
                  </a:cubicBezTo>
                  <a:cubicBezTo>
                    <a:pt x="1471083" y="140489"/>
                    <a:pt x="1466003" y="424969"/>
                    <a:pt x="1382183" y="510059"/>
                  </a:cubicBezTo>
                  <a:cubicBezTo>
                    <a:pt x="1276773" y="615469"/>
                    <a:pt x="899583" y="512599"/>
                    <a:pt x="668443" y="510059"/>
                  </a:cubicBezTo>
                  <a:cubicBezTo>
                    <a:pt x="451273" y="506249"/>
                    <a:pt x="133773" y="590069"/>
                    <a:pt x="37253" y="491009"/>
                  </a:cubicBezTo>
                  <a:cubicBezTo>
                    <a:pt x="-46567" y="404649"/>
                    <a:pt x="37253" y="28729"/>
                    <a:pt x="37253" y="28729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574452" y="3716655"/>
            <a:ext cx="1054418" cy="461962"/>
            <a:chOff x="0" y="0"/>
            <a:chExt cx="1405890" cy="6159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9407" y="29730"/>
              <a:ext cx="1337453" cy="552164"/>
            </a:xfrm>
            <a:custGeom>
              <a:avLst/>
              <a:gdLst/>
              <a:ahLst/>
              <a:cxnLst/>
              <a:rect r="r" b="b" t="t" l="l"/>
              <a:pathLst>
                <a:path h="552164" w="1337453">
                  <a:moveTo>
                    <a:pt x="67113" y="55360"/>
                  </a:moveTo>
                  <a:cubicBezTo>
                    <a:pt x="854513" y="70600"/>
                    <a:pt x="1062793" y="-46240"/>
                    <a:pt x="1170743" y="21070"/>
                  </a:cubicBezTo>
                  <a:cubicBezTo>
                    <a:pt x="1273613" y="84570"/>
                    <a:pt x="1373943" y="366510"/>
                    <a:pt x="1324413" y="450330"/>
                  </a:cubicBezTo>
                  <a:cubicBezTo>
                    <a:pt x="1277423" y="532880"/>
                    <a:pt x="1047553" y="512560"/>
                    <a:pt x="900233" y="526530"/>
                  </a:cubicBezTo>
                  <a:cubicBezTo>
                    <a:pt x="742753" y="541770"/>
                    <a:pt x="564953" y="537960"/>
                    <a:pt x="411283" y="534150"/>
                  </a:cubicBezTo>
                  <a:cubicBezTo>
                    <a:pt x="274123" y="532880"/>
                    <a:pt x="82353" y="586220"/>
                    <a:pt x="21393" y="515100"/>
                  </a:cubicBezTo>
                  <a:cubicBezTo>
                    <a:pt x="-45917" y="437630"/>
                    <a:pt x="67113" y="55360"/>
                    <a:pt x="67113" y="55360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8186294" y="5950310"/>
            <a:ext cx="8247406" cy="2754322"/>
          </a:xfrm>
          <a:custGeom>
            <a:avLst/>
            <a:gdLst/>
            <a:ahLst/>
            <a:cxnLst/>
            <a:rect r="r" b="b" t="t" l="l"/>
            <a:pathLst>
              <a:path h="2754322" w="8247406">
                <a:moveTo>
                  <a:pt x="0" y="0"/>
                </a:moveTo>
                <a:lnTo>
                  <a:pt x="8247406" y="0"/>
                </a:lnTo>
                <a:lnTo>
                  <a:pt x="8247406" y="2754322"/>
                </a:lnTo>
                <a:lnTo>
                  <a:pt x="0" y="27543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66503" y="988655"/>
            <a:ext cx="5860852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>
                <a:solidFill>
                  <a:srgbClr val="334157"/>
                </a:solidFill>
                <a:latin typeface="Baloo"/>
                <a:ea typeface="Baloo"/>
                <a:cs typeface="Baloo"/>
                <a:sym typeface="Baloo"/>
              </a:rPr>
              <a:t>1) Data Cleaning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9313" y="2893655"/>
            <a:ext cx="7215749" cy="1440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First I dropped the features that is not usefull in analysis such as 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User_ID 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User_Name 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and 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Driver_Name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9950" y="5277572"/>
            <a:ext cx="6893957" cy="1926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Also after running df.describe() , I notice logically invalid outliers as negative fare amount and Zero ride Distance , So i write a script for fixing this 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028045" y="3211830"/>
            <a:ext cx="960120" cy="234315"/>
            <a:chOff x="0" y="0"/>
            <a:chExt cx="1280160" cy="3124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800" y="43930"/>
              <a:ext cx="1179055" cy="218141"/>
            </a:xfrm>
            <a:custGeom>
              <a:avLst/>
              <a:gdLst/>
              <a:ahLst/>
              <a:cxnLst/>
              <a:rect r="r" b="b" t="t" l="l"/>
              <a:pathLst>
                <a:path h="218141" w="1179055">
                  <a:moveTo>
                    <a:pt x="49530" y="66560"/>
                  </a:moveTo>
                  <a:cubicBezTo>
                    <a:pt x="240030" y="11950"/>
                    <a:pt x="248920" y="14490"/>
                    <a:pt x="289560" y="13220"/>
                  </a:cubicBezTo>
                  <a:cubicBezTo>
                    <a:pt x="419100" y="8140"/>
                    <a:pt x="986790" y="-9640"/>
                    <a:pt x="1093470" y="6870"/>
                  </a:cubicBezTo>
                  <a:cubicBezTo>
                    <a:pt x="1121410" y="11950"/>
                    <a:pt x="1131570" y="14490"/>
                    <a:pt x="1145540" y="24650"/>
                  </a:cubicBezTo>
                  <a:cubicBezTo>
                    <a:pt x="1158240" y="34810"/>
                    <a:pt x="1172210" y="51320"/>
                    <a:pt x="1176020" y="69100"/>
                  </a:cubicBezTo>
                  <a:cubicBezTo>
                    <a:pt x="1179830" y="90690"/>
                    <a:pt x="1173480" y="128790"/>
                    <a:pt x="1158240" y="146570"/>
                  </a:cubicBezTo>
                  <a:cubicBezTo>
                    <a:pt x="1143000" y="165620"/>
                    <a:pt x="1106170" y="177050"/>
                    <a:pt x="1084580" y="177050"/>
                  </a:cubicBezTo>
                  <a:cubicBezTo>
                    <a:pt x="1066800" y="175780"/>
                    <a:pt x="1047750" y="165620"/>
                    <a:pt x="1035050" y="154190"/>
                  </a:cubicBezTo>
                  <a:cubicBezTo>
                    <a:pt x="1022350" y="141490"/>
                    <a:pt x="1012190" y="122440"/>
                    <a:pt x="1009650" y="105930"/>
                  </a:cubicBezTo>
                  <a:cubicBezTo>
                    <a:pt x="1007110" y="89420"/>
                    <a:pt x="1010920" y="67830"/>
                    <a:pt x="1018540" y="52590"/>
                  </a:cubicBezTo>
                  <a:cubicBezTo>
                    <a:pt x="1027430" y="37350"/>
                    <a:pt x="1041400" y="22110"/>
                    <a:pt x="1057910" y="15760"/>
                  </a:cubicBezTo>
                  <a:cubicBezTo>
                    <a:pt x="1078230" y="8140"/>
                    <a:pt x="1117600" y="6870"/>
                    <a:pt x="1137920" y="19570"/>
                  </a:cubicBezTo>
                  <a:cubicBezTo>
                    <a:pt x="1156970" y="31000"/>
                    <a:pt x="1176020" y="65290"/>
                    <a:pt x="1178560" y="88150"/>
                  </a:cubicBezTo>
                  <a:cubicBezTo>
                    <a:pt x="1181100" y="105930"/>
                    <a:pt x="1173480" y="126250"/>
                    <a:pt x="1164590" y="140220"/>
                  </a:cubicBezTo>
                  <a:cubicBezTo>
                    <a:pt x="1154430" y="154190"/>
                    <a:pt x="1146810" y="164350"/>
                    <a:pt x="1121410" y="173240"/>
                  </a:cubicBezTo>
                  <a:cubicBezTo>
                    <a:pt x="1017270" y="207530"/>
                    <a:pt x="448310" y="152920"/>
                    <a:pt x="265430" y="173240"/>
                  </a:cubicBezTo>
                  <a:cubicBezTo>
                    <a:pt x="176530" y="183400"/>
                    <a:pt x="114300" y="222770"/>
                    <a:pt x="71120" y="217690"/>
                  </a:cubicBezTo>
                  <a:cubicBezTo>
                    <a:pt x="48260" y="215150"/>
                    <a:pt x="33020" y="204990"/>
                    <a:pt x="21590" y="192290"/>
                  </a:cubicBezTo>
                  <a:cubicBezTo>
                    <a:pt x="8890" y="179590"/>
                    <a:pt x="1270" y="158000"/>
                    <a:pt x="0" y="140220"/>
                  </a:cubicBezTo>
                  <a:cubicBezTo>
                    <a:pt x="0" y="123710"/>
                    <a:pt x="10160" y="100850"/>
                    <a:pt x="19050" y="88150"/>
                  </a:cubicBezTo>
                  <a:cubicBezTo>
                    <a:pt x="26670" y="77990"/>
                    <a:pt x="49530" y="66560"/>
                    <a:pt x="49530" y="6656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49783" y="-3908669"/>
            <a:ext cx="22793849" cy="16369027"/>
          </a:xfrm>
          <a:custGeom>
            <a:avLst/>
            <a:gdLst/>
            <a:ahLst/>
            <a:cxnLst/>
            <a:rect r="r" b="b" t="t" l="l"/>
            <a:pathLst>
              <a:path h="16369027" w="22793849">
                <a:moveTo>
                  <a:pt x="0" y="0"/>
                </a:moveTo>
                <a:lnTo>
                  <a:pt x="22793849" y="0"/>
                </a:lnTo>
                <a:lnTo>
                  <a:pt x="22793849" y="16369026"/>
                </a:lnTo>
                <a:lnTo>
                  <a:pt x="0" y="163690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05983" y="473154"/>
            <a:ext cx="3427047" cy="2513714"/>
          </a:xfrm>
          <a:custGeom>
            <a:avLst/>
            <a:gdLst/>
            <a:ahLst/>
            <a:cxnLst/>
            <a:rect r="r" b="b" t="t" l="l"/>
            <a:pathLst>
              <a:path h="2513714" w="3427047">
                <a:moveTo>
                  <a:pt x="0" y="0"/>
                </a:moveTo>
                <a:lnTo>
                  <a:pt x="3427047" y="0"/>
                </a:lnTo>
                <a:lnTo>
                  <a:pt x="3427047" y="2513715"/>
                </a:lnTo>
                <a:lnTo>
                  <a:pt x="0" y="25137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0508" y="705040"/>
            <a:ext cx="17097023" cy="8965159"/>
          </a:xfrm>
          <a:custGeom>
            <a:avLst/>
            <a:gdLst/>
            <a:ahLst/>
            <a:cxnLst/>
            <a:rect r="r" b="b" t="t" l="l"/>
            <a:pathLst>
              <a:path h="8965159" w="17097023">
                <a:moveTo>
                  <a:pt x="0" y="0"/>
                </a:moveTo>
                <a:lnTo>
                  <a:pt x="17097023" y="0"/>
                </a:lnTo>
                <a:lnTo>
                  <a:pt x="17097023" y="8965159"/>
                </a:lnTo>
                <a:lnTo>
                  <a:pt x="0" y="89651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32632" y="2637754"/>
            <a:ext cx="9131340" cy="5011493"/>
          </a:xfrm>
          <a:custGeom>
            <a:avLst/>
            <a:gdLst/>
            <a:ahLst/>
            <a:cxnLst/>
            <a:rect r="r" b="b" t="t" l="l"/>
            <a:pathLst>
              <a:path h="5011493" w="9131340">
                <a:moveTo>
                  <a:pt x="0" y="0"/>
                </a:moveTo>
                <a:lnTo>
                  <a:pt x="9131341" y="0"/>
                </a:lnTo>
                <a:lnTo>
                  <a:pt x="9131341" y="5011492"/>
                </a:lnTo>
                <a:lnTo>
                  <a:pt x="0" y="501149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993" t="0" r="-6993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38225"/>
            <a:ext cx="8537553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>
                <a:solidFill>
                  <a:srgbClr val="334157"/>
                </a:solidFill>
                <a:latin typeface="Baloo"/>
                <a:ea typeface="Baloo"/>
                <a:cs typeface="Baloo"/>
                <a:sym typeface="Baloo"/>
              </a:rPr>
              <a:t>Th</a:t>
            </a:r>
            <a:r>
              <a:rPr lang="en-US" sz="6400">
                <a:solidFill>
                  <a:srgbClr val="334157"/>
                </a:solidFill>
                <a:latin typeface="Baloo"/>
                <a:ea typeface="Baloo"/>
                <a:cs typeface="Baloo"/>
                <a:sym typeface="Baloo"/>
              </a:rPr>
              <a:t>e Radians issue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9190" y="2680084"/>
            <a:ext cx="7363706" cy="417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1403" indent="-260702" lvl="1">
              <a:lnSpc>
                <a:spcPts val="3332"/>
              </a:lnSpc>
              <a:buFont typeface="Arial"/>
              <a:buChar char="•"/>
            </a:pPr>
            <a:r>
              <a:rPr lang="en-US" b="true" sz="2415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Fou</a:t>
            </a:r>
            <a:r>
              <a:rPr lang="en-US" b="true" sz="2415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nd</a:t>
            </a:r>
            <a:r>
              <a:rPr lang="en-US" sz="2415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: describe() showed im</a:t>
            </a:r>
            <a:r>
              <a:rPr lang="en-US" sz="2415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possi</a:t>
            </a:r>
            <a:r>
              <a:rPr lang="en-US" sz="2415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lang="en-US" sz="2415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2415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e coordinates (mean longitude -1.27, not near NYC's -74)</a:t>
            </a:r>
          </a:p>
          <a:p>
            <a:pPr algn="l" marL="521403" indent="-260702" lvl="1">
              <a:lnSpc>
                <a:spcPts val="3332"/>
              </a:lnSpc>
              <a:buFont typeface="Arial"/>
              <a:buChar char="•"/>
            </a:pPr>
            <a:r>
              <a:rPr lang="en-US" b="true" sz="2415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Root cause</a:t>
            </a:r>
            <a:r>
              <a:rPr lang="en-US" sz="2415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: coordinates were stored in radians, not degrees</a:t>
            </a:r>
          </a:p>
          <a:p>
            <a:pPr algn="l" marL="521403" indent="-260702" lvl="1">
              <a:lnSpc>
                <a:spcPts val="3332"/>
              </a:lnSpc>
              <a:buFont typeface="Arial"/>
              <a:buChar char="•"/>
            </a:pPr>
            <a:r>
              <a:rPr lang="en-US" b="true" sz="2415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Fix</a:t>
            </a:r>
            <a:r>
              <a:rPr lang="en-US" sz="2415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: np.degrees() conversion → coordinates snapped correctly to NYC (-73.9, 40.75)</a:t>
            </a:r>
          </a:p>
          <a:p>
            <a:pPr algn="l" marL="521403" indent="-260702" lvl="1">
              <a:lnSpc>
                <a:spcPts val="3332"/>
              </a:lnSpc>
              <a:buFont typeface="Arial"/>
              <a:buChar char="•"/>
            </a:pPr>
            <a:r>
              <a:rPr lang="en-US" sz="2415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Also removed: negative fares, zero distance, zero passengers, 0.29% remaining GPS outliers</a:t>
            </a:r>
          </a:p>
          <a:p>
            <a:pPr algn="l">
              <a:lnSpc>
                <a:spcPts val="3332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85227" y="-3683203"/>
            <a:ext cx="24770820" cy="19524307"/>
          </a:xfrm>
          <a:custGeom>
            <a:avLst/>
            <a:gdLst/>
            <a:ahLst/>
            <a:cxnLst/>
            <a:rect r="r" b="b" t="t" l="l"/>
            <a:pathLst>
              <a:path h="19524307" w="24770820">
                <a:moveTo>
                  <a:pt x="0" y="0"/>
                </a:moveTo>
                <a:lnTo>
                  <a:pt x="24770820" y="0"/>
                </a:lnTo>
                <a:lnTo>
                  <a:pt x="24770820" y="19524307"/>
                </a:lnTo>
                <a:lnTo>
                  <a:pt x="0" y="19524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0441" y="8385038"/>
            <a:ext cx="1771498" cy="1145362"/>
          </a:xfrm>
          <a:custGeom>
            <a:avLst/>
            <a:gdLst/>
            <a:ahLst/>
            <a:cxnLst/>
            <a:rect r="r" b="b" t="t" l="l"/>
            <a:pathLst>
              <a:path h="1145362" w="1771498">
                <a:moveTo>
                  <a:pt x="0" y="0"/>
                </a:moveTo>
                <a:lnTo>
                  <a:pt x="1771497" y="0"/>
                </a:lnTo>
                <a:lnTo>
                  <a:pt x="1771497" y="1145363"/>
                </a:lnTo>
                <a:lnTo>
                  <a:pt x="0" y="1145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652579" y="9870253"/>
            <a:ext cx="159629" cy="166802"/>
            <a:chOff x="0" y="0"/>
            <a:chExt cx="212839" cy="2224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2852" cy="222377"/>
            </a:xfrm>
            <a:custGeom>
              <a:avLst/>
              <a:gdLst/>
              <a:ahLst/>
              <a:cxnLst/>
              <a:rect r="r" b="b" t="t" l="l"/>
              <a:pathLst>
                <a:path h="222377" w="212852">
                  <a:moveTo>
                    <a:pt x="0" y="0"/>
                  </a:moveTo>
                  <a:lnTo>
                    <a:pt x="212852" y="222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6" id="6"/>
          <p:cNvSpPr/>
          <p:nvPr/>
        </p:nvSpPr>
        <p:spPr>
          <a:xfrm rot="2769660">
            <a:off x="2617165" y="9948586"/>
            <a:ext cx="230419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2622090" y="9839754"/>
            <a:ext cx="222409" cy="225990"/>
            <a:chOff x="0" y="0"/>
            <a:chExt cx="296545" cy="3013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6545" cy="301371"/>
            </a:xfrm>
            <a:custGeom>
              <a:avLst/>
              <a:gdLst/>
              <a:ahLst/>
              <a:cxnLst/>
              <a:rect r="r" b="b" t="t" l="l"/>
              <a:pathLst>
                <a:path h="301371" w="296545">
                  <a:moveTo>
                    <a:pt x="212852" y="301371"/>
                  </a:moveTo>
                  <a:lnTo>
                    <a:pt x="296545" y="222504"/>
                  </a:lnTo>
                  <a:lnTo>
                    <a:pt x="86106" y="0"/>
                  </a:lnTo>
                  <a:lnTo>
                    <a:pt x="0" y="78867"/>
                  </a:lnTo>
                  <a:lnTo>
                    <a:pt x="212852" y="301371"/>
                  </a:lnTo>
                  <a:close/>
                </a:path>
              </a:pathLst>
            </a:custGeom>
            <a:solidFill>
              <a:srgbClr val="334157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2731494" y="9952758"/>
            <a:ext cx="588293" cy="616991"/>
          </a:xfrm>
          <a:custGeom>
            <a:avLst/>
            <a:gdLst/>
            <a:ahLst/>
            <a:cxnLst/>
            <a:rect r="r" b="b" t="t" l="l"/>
            <a:pathLst>
              <a:path h="616991" w="588293">
                <a:moveTo>
                  <a:pt x="0" y="0"/>
                </a:moveTo>
                <a:lnTo>
                  <a:pt x="588292" y="0"/>
                </a:lnTo>
                <a:lnTo>
                  <a:pt x="588292" y="616992"/>
                </a:lnTo>
                <a:lnTo>
                  <a:pt x="0" y="6169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731494" y="10103415"/>
            <a:ext cx="586502" cy="457362"/>
            <a:chOff x="0" y="0"/>
            <a:chExt cx="782002" cy="6098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2066" cy="609854"/>
            </a:xfrm>
            <a:custGeom>
              <a:avLst/>
              <a:gdLst/>
              <a:ahLst/>
              <a:cxnLst/>
              <a:rect r="r" b="b" t="t" l="l"/>
              <a:pathLst>
                <a:path h="609854" w="782066">
                  <a:moveTo>
                    <a:pt x="0" y="0"/>
                  </a:moveTo>
                  <a:cubicBezTo>
                    <a:pt x="554863" y="583565"/>
                    <a:pt x="554863" y="583565"/>
                    <a:pt x="554863" y="583565"/>
                  </a:cubicBezTo>
                  <a:cubicBezTo>
                    <a:pt x="570103" y="601091"/>
                    <a:pt x="594233" y="609854"/>
                    <a:pt x="616077" y="609854"/>
                  </a:cubicBezTo>
                  <a:cubicBezTo>
                    <a:pt x="635762" y="609854"/>
                    <a:pt x="655447" y="603250"/>
                    <a:pt x="670687" y="588010"/>
                  </a:cubicBezTo>
                  <a:cubicBezTo>
                    <a:pt x="701294" y="559562"/>
                    <a:pt x="701294" y="559562"/>
                    <a:pt x="701294" y="559562"/>
                  </a:cubicBezTo>
                  <a:cubicBezTo>
                    <a:pt x="758063" y="504952"/>
                    <a:pt x="758063" y="504952"/>
                    <a:pt x="758063" y="504952"/>
                  </a:cubicBezTo>
                  <a:cubicBezTo>
                    <a:pt x="775589" y="489712"/>
                    <a:pt x="782066" y="467741"/>
                    <a:pt x="782066" y="448183"/>
                  </a:cubicBezTo>
                  <a:cubicBezTo>
                    <a:pt x="782066" y="448183"/>
                    <a:pt x="782066" y="446024"/>
                    <a:pt x="782066" y="446024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C69B2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816770" y="9023680"/>
            <a:ext cx="966730" cy="963149"/>
          </a:xfrm>
          <a:custGeom>
            <a:avLst/>
            <a:gdLst/>
            <a:ahLst/>
            <a:cxnLst/>
            <a:rect r="r" b="b" t="t" l="l"/>
            <a:pathLst>
              <a:path h="963149" w="966730">
                <a:moveTo>
                  <a:pt x="0" y="0"/>
                </a:moveTo>
                <a:lnTo>
                  <a:pt x="966730" y="0"/>
                </a:lnTo>
                <a:lnTo>
                  <a:pt x="966730" y="963149"/>
                </a:lnTo>
                <a:lnTo>
                  <a:pt x="0" y="9631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037378" y="9102604"/>
            <a:ext cx="728196" cy="884234"/>
            <a:chOff x="0" y="0"/>
            <a:chExt cx="970928" cy="11789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0915" cy="1179068"/>
            </a:xfrm>
            <a:custGeom>
              <a:avLst/>
              <a:gdLst/>
              <a:ahLst/>
              <a:cxnLst/>
              <a:rect r="r" b="b" t="t" l="l"/>
              <a:pathLst>
                <a:path h="1179068" w="970915">
                  <a:moveTo>
                    <a:pt x="970915" y="366776"/>
                  </a:moveTo>
                  <a:cubicBezTo>
                    <a:pt x="443865" y="1172464"/>
                    <a:pt x="443865" y="1172464"/>
                    <a:pt x="443865" y="1172464"/>
                  </a:cubicBezTo>
                  <a:cubicBezTo>
                    <a:pt x="413258" y="1176782"/>
                    <a:pt x="382651" y="1179068"/>
                    <a:pt x="352044" y="1179068"/>
                  </a:cubicBezTo>
                  <a:cubicBezTo>
                    <a:pt x="220853" y="1179068"/>
                    <a:pt x="100584" y="1141984"/>
                    <a:pt x="0" y="1076452"/>
                  </a:cubicBezTo>
                  <a:cubicBezTo>
                    <a:pt x="706374" y="0"/>
                    <a:pt x="706374" y="0"/>
                    <a:pt x="706374" y="0"/>
                  </a:cubicBezTo>
                  <a:cubicBezTo>
                    <a:pt x="833120" y="85090"/>
                    <a:pt x="929386" y="213995"/>
                    <a:pt x="970915" y="366776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854432" y="9023680"/>
            <a:ext cx="608019" cy="812492"/>
            <a:chOff x="0" y="0"/>
            <a:chExt cx="810692" cy="108332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0641" cy="1083310"/>
            </a:xfrm>
            <a:custGeom>
              <a:avLst/>
              <a:gdLst/>
              <a:ahLst/>
              <a:cxnLst/>
              <a:rect r="r" b="b" t="t" l="l"/>
              <a:pathLst>
                <a:path h="1083310" w="810641">
                  <a:moveTo>
                    <a:pt x="810641" y="37084"/>
                  </a:moveTo>
                  <a:cubicBezTo>
                    <a:pt x="126746" y="1083310"/>
                    <a:pt x="126746" y="1083310"/>
                    <a:pt x="126746" y="1083310"/>
                  </a:cubicBezTo>
                  <a:cubicBezTo>
                    <a:pt x="72136" y="1028700"/>
                    <a:pt x="30607" y="963168"/>
                    <a:pt x="0" y="891159"/>
                  </a:cubicBezTo>
                  <a:cubicBezTo>
                    <a:pt x="583438" y="0"/>
                    <a:pt x="583438" y="0"/>
                    <a:pt x="583438" y="0"/>
                  </a:cubicBezTo>
                  <a:cubicBezTo>
                    <a:pt x="585597" y="0"/>
                    <a:pt x="590042" y="0"/>
                    <a:pt x="594360" y="0"/>
                  </a:cubicBezTo>
                  <a:cubicBezTo>
                    <a:pt x="670814" y="0"/>
                    <a:pt x="742950" y="13081"/>
                    <a:pt x="810641" y="37084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80458" y="8885577"/>
            <a:ext cx="1237564" cy="1237564"/>
            <a:chOff x="0" y="0"/>
            <a:chExt cx="1650086" cy="16500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99272" y="99693"/>
              <a:ext cx="1451386" cy="1452020"/>
            </a:xfrm>
            <a:custGeom>
              <a:avLst/>
              <a:gdLst/>
              <a:ahLst/>
              <a:cxnLst/>
              <a:rect r="r" b="b" t="t" l="l"/>
              <a:pathLst>
                <a:path h="1452020" w="1451386">
                  <a:moveTo>
                    <a:pt x="438319" y="1393065"/>
                  </a:moveTo>
                  <a:cubicBezTo>
                    <a:pt x="805476" y="1550418"/>
                    <a:pt x="1231688" y="1382143"/>
                    <a:pt x="1391200" y="1014986"/>
                  </a:cubicBezTo>
                  <a:cubicBezTo>
                    <a:pt x="1550712" y="647829"/>
                    <a:pt x="1382437" y="219458"/>
                    <a:pt x="1013121" y="59946"/>
                  </a:cubicBezTo>
                  <a:cubicBezTo>
                    <a:pt x="645964" y="-99693"/>
                    <a:pt x="219879" y="70741"/>
                    <a:pt x="60240" y="437898"/>
                  </a:cubicBezTo>
                  <a:cubicBezTo>
                    <a:pt x="-99399" y="805055"/>
                    <a:pt x="69003" y="1233426"/>
                    <a:pt x="438319" y="1392938"/>
                  </a:cubicBezTo>
                  <a:close/>
                  <a:moveTo>
                    <a:pt x="1268772" y="960249"/>
                  </a:moveTo>
                  <a:cubicBezTo>
                    <a:pt x="1137581" y="1259715"/>
                    <a:pt x="790109" y="1397383"/>
                    <a:pt x="490770" y="1268351"/>
                  </a:cubicBezTo>
                  <a:cubicBezTo>
                    <a:pt x="191431" y="1139319"/>
                    <a:pt x="53763" y="789815"/>
                    <a:pt x="182668" y="492635"/>
                  </a:cubicBezTo>
                  <a:cubicBezTo>
                    <a:pt x="313859" y="193169"/>
                    <a:pt x="661331" y="55501"/>
                    <a:pt x="960670" y="184406"/>
                  </a:cubicBezTo>
                  <a:cubicBezTo>
                    <a:pt x="1260009" y="313311"/>
                    <a:pt x="1397804" y="663069"/>
                    <a:pt x="1268772" y="960249"/>
                  </a:cubicBezTo>
                  <a:close/>
                </a:path>
              </a:pathLst>
            </a:custGeom>
            <a:solidFill>
              <a:srgbClr val="FFC53A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978973" y="111325"/>
            <a:ext cx="14195117" cy="9330566"/>
          </a:xfrm>
          <a:custGeom>
            <a:avLst/>
            <a:gdLst/>
            <a:ahLst/>
            <a:cxnLst/>
            <a:rect r="r" b="b" t="t" l="l"/>
            <a:pathLst>
              <a:path h="9330566" w="14195117">
                <a:moveTo>
                  <a:pt x="0" y="0"/>
                </a:moveTo>
                <a:lnTo>
                  <a:pt x="14195117" y="0"/>
                </a:lnTo>
                <a:lnTo>
                  <a:pt x="14195117" y="9330566"/>
                </a:lnTo>
                <a:lnTo>
                  <a:pt x="0" y="933056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86189" y="2563016"/>
            <a:ext cx="13846406" cy="4618648"/>
          </a:xfrm>
          <a:custGeom>
            <a:avLst/>
            <a:gdLst/>
            <a:ahLst/>
            <a:cxnLst/>
            <a:rect r="r" b="b" t="t" l="l"/>
            <a:pathLst>
              <a:path h="4618648" w="13846406">
                <a:moveTo>
                  <a:pt x="0" y="0"/>
                </a:moveTo>
                <a:lnTo>
                  <a:pt x="13846407" y="0"/>
                </a:lnTo>
                <a:lnTo>
                  <a:pt x="13846407" y="4618648"/>
                </a:lnTo>
                <a:lnTo>
                  <a:pt x="0" y="461864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5010" t="0" r="-409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914114" y="7295964"/>
            <a:ext cx="8743349" cy="2386133"/>
          </a:xfrm>
          <a:custGeom>
            <a:avLst/>
            <a:gdLst/>
            <a:ahLst/>
            <a:cxnLst/>
            <a:rect r="r" b="b" t="t" l="l"/>
            <a:pathLst>
              <a:path h="2386133" w="8743349">
                <a:moveTo>
                  <a:pt x="0" y="0"/>
                </a:moveTo>
                <a:lnTo>
                  <a:pt x="8743349" y="0"/>
                </a:lnTo>
                <a:lnTo>
                  <a:pt x="8743349" y="2386133"/>
                </a:lnTo>
                <a:lnTo>
                  <a:pt x="0" y="238613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8700" y="686200"/>
            <a:ext cx="676537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>
                <a:solidFill>
                  <a:srgbClr val="334157"/>
                </a:solidFill>
                <a:latin typeface="Baloo"/>
                <a:ea typeface="Baloo"/>
                <a:cs typeface="Baloo"/>
                <a:sym typeface="Baloo"/>
              </a:rPr>
              <a:t>2) B</a:t>
            </a:r>
            <a:r>
              <a:rPr lang="en-US" sz="6400">
                <a:solidFill>
                  <a:srgbClr val="334157"/>
                </a:solidFill>
                <a:latin typeface="Baloo"/>
                <a:ea typeface="Baloo"/>
                <a:cs typeface="Baloo"/>
                <a:sym typeface="Baloo"/>
              </a:rPr>
              <a:t>asic Questions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22591" y="1805207"/>
            <a:ext cx="8564859" cy="529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7"/>
              </a:lnSpc>
            </a:pPr>
            <a:r>
              <a:rPr lang="en-US" b="true" sz="3099">
                <a:solidFill>
                  <a:srgbClr val="6389EB"/>
                </a:solidFill>
                <a:latin typeface="DM Sans Bold"/>
                <a:ea typeface="DM Sans Bold"/>
                <a:cs typeface="DM Sans Bold"/>
                <a:sym typeface="DM Sans Bold"/>
              </a:rPr>
              <a:t>Distance is the strongest fare predictor (Q5)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83675" y="-5736536"/>
            <a:ext cx="27255740" cy="19802256"/>
          </a:xfrm>
          <a:custGeom>
            <a:avLst/>
            <a:gdLst/>
            <a:ahLst/>
            <a:cxnLst/>
            <a:rect r="r" b="b" t="t" l="l"/>
            <a:pathLst>
              <a:path h="19802256" w="27255740">
                <a:moveTo>
                  <a:pt x="0" y="0"/>
                </a:moveTo>
                <a:lnTo>
                  <a:pt x="27255740" y="0"/>
                </a:lnTo>
                <a:lnTo>
                  <a:pt x="27255740" y="19802256"/>
                </a:lnTo>
                <a:lnTo>
                  <a:pt x="0" y="198022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10659" y="8070104"/>
            <a:ext cx="3194533" cy="1982114"/>
          </a:xfrm>
          <a:custGeom>
            <a:avLst/>
            <a:gdLst/>
            <a:ahLst/>
            <a:cxnLst/>
            <a:rect r="r" b="b" t="t" l="l"/>
            <a:pathLst>
              <a:path h="1982114" w="3194533">
                <a:moveTo>
                  <a:pt x="0" y="0"/>
                </a:moveTo>
                <a:lnTo>
                  <a:pt x="3194532" y="0"/>
                </a:lnTo>
                <a:lnTo>
                  <a:pt x="3194532" y="1982114"/>
                </a:lnTo>
                <a:lnTo>
                  <a:pt x="0" y="19821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1655" y="275196"/>
            <a:ext cx="17369447" cy="8304743"/>
          </a:xfrm>
          <a:custGeom>
            <a:avLst/>
            <a:gdLst/>
            <a:ahLst/>
            <a:cxnLst/>
            <a:rect r="r" b="b" t="t" l="l"/>
            <a:pathLst>
              <a:path h="8304743" w="17369447">
                <a:moveTo>
                  <a:pt x="0" y="0"/>
                </a:moveTo>
                <a:lnTo>
                  <a:pt x="17369447" y="0"/>
                </a:lnTo>
                <a:lnTo>
                  <a:pt x="17369447" y="8304743"/>
                </a:lnTo>
                <a:lnTo>
                  <a:pt x="0" y="83047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36252" y="1921171"/>
            <a:ext cx="10653384" cy="6148933"/>
          </a:xfrm>
          <a:custGeom>
            <a:avLst/>
            <a:gdLst/>
            <a:ahLst/>
            <a:cxnLst/>
            <a:rect r="r" b="b" t="t" l="l"/>
            <a:pathLst>
              <a:path h="6148933" w="10653384">
                <a:moveTo>
                  <a:pt x="0" y="0"/>
                </a:moveTo>
                <a:lnTo>
                  <a:pt x="10653384" y="0"/>
                </a:lnTo>
                <a:lnTo>
                  <a:pt x="10653384" y="6148933"/>
                </a:lnTo>
                <a:lnTo>
                  <a:pt x="0" y="61489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52736" y="2056421"/>
            <a:ext cx="4042082" cy="5878433"/>
          </a:xfrm>
          <a:custGeom>
            <a:avLst/>
            <a:gdLst/>
            <a:ahLst/>
            <a:cxnLst/>
            <a:rect r="r" b="b" t="t" l="l"/>
            <a:pathLst>
              <a:path h="5878433" w="4042082">
                <a:moveTo>
                  <a:pt x="0" y="0"/>
                </a:moveTo>
                <a:lnTo>
                  <a:pt x="4042082" y="0"/>
                </a:lnTo>
                <a:lnTo>
                  <a:pt x="4042082" y="5878433"/>
                </a:lnTo>
                <a:lnTo>
                  <a:pt x="0" y="587843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36252" y="971550"/>
            <a:ext cx="8564859" cy="553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3"/>
              </a:lnSpc>
            </a:pPr>
            <a:r>
              <a:rPr lang="en-US" b="true" sz="3299">
                <a:solidFill>
                  <a:srgbClr val="6389EB"/>
                </a:solidFill>
                <a:latin typeface="DM Sans Bold"/>
                <a:ea typeface="DM Sans Bold"/>
                <a:cs typeface="DM Sans Bold"/>
                <a:sym typeface="DM Sans Bold"/>
              </a:rPr>
              <a:t>P</a:t>
            </a:r>
            <a:r>
              <a:rPr lang="en-US" b="true" sz="3299">
                <a:solidFill>
                  <a:srgbClr val="6389EB"/>
                </a:solidFill>
                <a:latin typeface="DM Sans Bold"/>
                <a:ea typeface="DM Sans Bold"/>
                <a:cs typeface="DM Sans Bold"/>
                <a:sym typeface="DM Sans Bold"/>
              </a:rPr>
              <a:t>eak demand hour (Q6)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2836" y="9056189"/>
            <a:ext cx="16042329" cy="49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2"/>
              </a:lnSpc>
            </a:pPr>
            <a:r>
              <a:rPr lang="en-US" sz="2900">
                <a:solidFill>
                  <a:srgbClr val="737373"/>
                </a:solidFill>
                <a:latin typeface="DM Sans"/>
                <a:ea typeface="DM Sans"/>
                <a:cs typeface="DM Sans"/>
                <a:sym typeface="DM Sans"/>
              </a:rPr>
              <a:t>Insight</a:t>
            </a:r>
            <a:r>
              <a:rPr lang="en-US" b="true" sz="2900">
                <a:solidFill>
                  <a:srgbClr val="6389EB"/>
                </a:solidFill>
                <a:latin typeface="DM Sans Bold"/>
                <a:ea typeface="DM Sans Bold"/>
                <a:cs typeface="DM Sans Bold"/>
                <a:sym typeface="DM Sans Bold"/>
              </a:rPr>
              <a:t>: </a:t>
            </a:r>
            <a:r>
              <a:rPr lang="en-US" b="true" sz="2900">
                <a:solidFill>
                  <a:srgbClr val="FF3131"/>
                </a:solidFill>
                <a:latin typeface="DM Sans Bold"/>
                <a:ea typeface="DM Sans Bold"/>
                <a:cs typeface="DM Sans Bold"/>
                <a:sym typeface="DM Sans Bold"/>
              </a:rPr>
              <a:t>7 PM is the rush hour for ride requests — both numeric and visual confirm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83675" y="-5736536"/>
            <a:ext cx="27255740" cy="19802256"/>
          </a:xfrm>
          <a:custGeom>
            <a:avLst/>
            <a:gdLst/>
            <a:ahLst/>
            <a:cxnLst/>
            <a:rect r="r" b="b" t="t" l="l"/>
            <a:pathLst>
              <a:path h="19802256" w="27255740">
                <a:moveTo>
                  <a:pt x="0" y="0"/>
                </a:moveTo>
                <a:lnTo>
                  <a:pt x="27255740" y="0"/>
                </a:lnTo>
                <a:lnTo>
                  <a:pt x="27255740" y="19802256"/>
                </a:lnTo>
                <a:lnTo>
                  <a:pt x="0" y="198022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10659" y="8070104"/>
            <a:ext cx="3194533" cy="1982114"/>
          </a:xfrm>
          <a:custGeom>
            <a:avLst/>
            <a:gdLst/>
            <a:ahLst/>
            <a:cxnLst/>
            <a:rect r="r" b="b" t="t" l="l"/>
            <a:pathLst>
              <a:path h="1982114" w="3194533">
                <a:moveTo>
                  <a:pt x="0" y="0"/>
                </a:moveTo>
                <a:lnTo>
                  <a:pt x="3194532" y="0"/>
                </a:lnTo>
                <a:lnTo>
                  <a:pt x="3194532" y="1982114"/>
                </a:lnTo>
                <a:lnTo>
                  <a:pt x="0" y="19821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1655" y="275196"/>
            <a:ext cx="17369447" cy="8304743"/>
          </a:xfrm>
          <a:custGeom>
            <a:avLst/>
            <a:gdLst/>
            <a:ahLst/>
            <a:cxnLst/>
            <a:rect r="r" b="b" t="t" l="l"/>
            <a:pathLst>
              <a:path h="8304743" w="17369447">
                <a:moveTo>
                  <a:pt x="0" y="0"/>
                </a:moveTo>
                <a:lnTo>
                  <a:pt x="17369447" y="0"/>
                </a:lnTo>
                <a:lnTo>
                  <a:pt x="17369447" y="8304743"/>
                </a:lnTo>
                <a:lnTo>
                  <a:pt x="0" y="83047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07167" y="2263085"/>
            <a:ext cx="16678423" cy="5068696"/>
          </a:xfrm>
          <a:custGeom>
            <a:avLst/>
            <a:gdLst/>
            <a:ahLst/>
            <a:cxnLst/>
            <a:rect r="r" b="b" t="t" l="l"/>
            <a:pathLst>
              <a:path h="5068696" w="16678423">
                <a:moveTo>
                  <a:pt x="0" y="0"/>
                </a:moveTo>
                <a:lnTo>
                  <a:pt x="16678423" y="0"/>
                </a:lnTo>
                <a:lnTo>
                  <a:pt x="16678423" y="5068696"/>
                </a:lnTo>
                <a:lnTo>
                  <a:pt x="0" y="50686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36252" y="971550"/>
            <a:ext cx="8564859" cy="553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3"/>
              </a:lnSpc>
            </a:pPr>
            <a:r>
              <a:rPr lang="en-US" b="true" sz="3299">
                <a:solidFill>
                  <a:srgbClr val="6389EB"/>
                </a:solidFill>
                <a:latin typeface="DM Sans Bold"/>
                <a:ea typeface="DM Sans Bold"/>
                <a:cs typeface="DM Sans Bold"/>
                <a:sym typeface="DM Sans Bold"/>
              </a:rPr>
              <a:t>Airport</a:t>
            </a:r>
            <a:r>
              <a:rPr lang="en-US" b="true" sz="3299">
                <a:solidFill>
                  <a:srgbClr val="6389EB"/>
                </a:solidFill>
                <a:latin typeface="DM Sans Bold"/>
                <a:ea typeface="DM Sans Bold"/>
                <a:cs typeface="DM Sans Bold"/>
                <a:sym typeface="DM Sans Bold"/>
              </a:rPr>
              <a:t> proximity effect (Q8)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1655" y="8257794"/>
            <a:ext cx="16533163" cy="100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2"/>
              </a:lnSpc>
            </a:pPr>
            <a:r>
              <a:rPr lang="en-US" sz="2900">
                <a:solidFill>
                  <a:srgbClr val="737373"/>
                </a:solidFill>
                <a:latin typeface="DM Sans"/>
                <a:ea typeface="DM Sans"/>
                <a:cs typeface="DM Sans"/>
                <a:sym typeface="DM Sans"/>
              </a:rPr>
              <a:t>Insight</a:t>
            </a:r>
            <a:r>
              <a:rPr lang="en-US" b="true" sz="2900">
                <a:solidFill>
                  <a:srgbClr val="6389EB"/>
                </a:solidFill>
                <a:latin typeface="DM Sans Bold"/>
                <a:ea typeface="DM Sans Bold"/>
                <a:cs typeface="DM Sans Bold"/>
                <a:sym typeface="DM Sans Bold"/>
              </a:rPr>
              <a:t>: </a:t>
            </a:r>
            <a:r>
              <a:rPr lang="en-US" b="true" sz="2900">
                <a:solidFill>
                  <a:srgbClr val="FF3131"/>
                </a:solidFill>
                <a:latin typeface="DM Sans Bold"/>
                <a:ea typeface="DM Sans Bold"/>
                <a:cs typeface="DM Sans Bold"/>
                <a:sym typeface="DM Sans Bold"/>
              </a:rPr>
              <a:t>JFK rides show a fare premium near the airport; the pattern doesn't generalize to EWR/LGA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34886" y="-4471168"/>
            <a:ext cx="22668728" cy="16729177"/>
          </a:xfrm>
          <a:custGeom>
            <a:avLst/>
            <a:gdLst/>
            <a:ahLst/>
            <a:cxnLst/>
            <a:rect r="r" b="b" t="t" l="l"/>
            <a:pathLst>
              <a:path h="16729177" w="22668728">
                <a:moveTo>
                  <a:pt x="0" y="0"/>
                </a:moveTo>
                <a:lnTo>
                  <a:pt x="22668729" y="0"/>
                </a:lnTo>
                <a:lnTo>
                  <a:pt x="22668729" y="16729176"/>
                </a:lnTo>
                <a:lnTo>
                  <a:pt x="0" y="167291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9402" y="457495"/>
            <a:ext cx="17133294" cy="8692239"/>
          </a:xfrm>
          <a:custGeom>
            <a:avLst/>
            <a:gdLst/>
            <a:ahLst/>
            <a:cxnLst/>
            <a:rect r="r" b="b" t="t" l="l"/>
            <a:pathLst>
              <a:path h="8692239" w="17133294">
                <a:moveTo>
                  <a:pt x="0" y="0"/>
                </a:moveTo>
                <a:lnTo>
                  <a:pt x="17133294" y="0"/>
                </a:lnTo>
                <a:lnTo>
                  <a:pt x="17133294" y="8692239"/>
                </a:lnTo>
                <a:lnTo>
                  <a:pt x="0" y="86922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35730" y="7350776"/>
            <a:ext cx="3587725" cy="2692394"/>
          </a:xfrm>
          <a:custGeom>
            <a:avLst/>
            <a:gdLst/>
            <a:ahLst/>
            <a:cxnLst/>
            <a:rect r="r" b="b" t="t" l="l"/>
            <a:pathLst>
              <a:path h="2692394" w="3587725">
                <a:moveTo>
                  <a:pt x="0" y="0"/>
                </a:moveTo>
                <a:lnTo>
                  <a:pt x="3587725" y="0"/>
                </a:lnTo>
                <a:lnTo>
                  <a:pt x="3587725" y="2692394"/>
                </a:lnTo>
                <a:lnTo>
                  <a:pt x="0" y="26923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58132" y="5959497"/>
            <a:ext cx="4480798" cy="1011000"/>
            <a:chOff x="0" y="0"/>
            <a:chExt cx="5974398" cy="134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74400" cy="1347997"/>
            </a:xfrm>
            <a:custGeom>
              <a:avLst/>
              <a:gdLst/>
              <a:ahLst/>
              <a:cxnLst/>
              <a:rect r="r" b="b" t="t" l="l"/>
              <a:pathLst>
                <a:path h="1347997" w="5974400">
                  <a:moveTo>
                    <a:pt x="0" y="0"/>
                  </a:moveTo>
                  <a:lnTo>
                    <a:pt x="5974400" y="0"/>
                  </a:lnTo>
                  <a:lnTo>
                    <a:pt x="5974400" y="1347997"/>
                  </a:lnTo>
                  <a:lnTo>
                    <a:pt x="0" y="134799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6358" r="0" b="-3635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974398" cy="140515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795"/>
                </a:lnSpc>
              </a:pPr>
              <a:r>
                <a:rPr lang="en-US" sz="4200">
                  <a:solidFill>
                    <a:srgbClr val="334157"/>
                  </a:solidFill>
                  <a:latin typeface="Baloo"/>
                  <a:ea typeface="Baloo"/>
                  <a:cs typeface="Baloo"/>
                  <a:sym typeface="Baloo"/>
                </a:rPr>
                <a:t>Car conditi</a:t>
              </a:r>
              <a:r>
                <a:rPr lang="en-US" sz="4200">
                  <a:solidFill>
                    <a:srgbClr val="334157"/>
                  </a:solidFill>
                  <a:latin typeface="Baloo"/>
                  <a:ea typeface="Baloo"/>
                  <a:cs typeface="Baloo"/>
                  <a:sym typeface="Baloo"/>
                </a:rPr>
                <a:t>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904349" y="5959497"/>
            <a:ext cx="4480798" cy="2410435"/>
            <a:chOff x="0" y="0"/>
            <a:chExt cx="5974398" cy="32139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74400" cy="3213905"/>
            </a:xfrm>
            <a:custGeom>
              <a:avLst/>
              <a:gdLst/>
              <a:ahLst/>
              <a:cxnLst/>
              <a:rect r="r" b="b" t="t" l="l"/>
              <a:pathLst>
                <a:path h="3213905" w="5974400">
                  <a:moveTo>
                    <a:pt x="0" y="0"/>
                  </a:moveTo>
                  <a:lnTo>
                    <a:pt x="5974400" y="0"/>
                  </a:lnTo>
                  <a:lnTo>
                    <a:pt x="5974400" y="3213905"/>
                  </a:lnTo>
                  <a:lnTo>
                    <a:pt x="0" y="321390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5249" r="0" b="4280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974398" cy="327106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795"/>
                </a:lnSpc>
              </a:pPr>
              <a:r>
                <a:rPr lang="en-US" sz="4200">
                  <a:solidFill>
                    <a:srgbClr val="334157"/>
                  </a:solidFill>
                  <a:latin typeface="Baloo"/>
                  <a:ea typeface="Baloo"/>
                  <a:cs typeface="Baloo"/>
                  <a:sym typeface="Baloo"/>
                </a:rPr>
                <a:t>Distance vs weather</a:t>
              </a:r>
            </a:p>
            <a:p>
              <a:pPr algn="ctr">
                <a:lnSpc>
                  <a:spcPts val="579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626568" y="5959497"/>
            <a:ext cx="4480798" cy="1011000"/>
            <a:chOff x="0" y="0"/>
            <a:chExt cx="5974398" cy="134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974400" cy="1347997"/>
            </a:xfrm>
            <a:custGeom>
              <a:avLst/>
              <a:gdLst/>
              <a:ahLst/>
              <a:cxnLst/>
              <a:rect r="r" b="b" t="t" l="l"/>
              <a:pathLst>
                <a:path h="1347997" w="5974400">
                  <a:moveTo>
                    <a:pt x="0" y="0"/>
                  </a:moveTo>
                  <a:lnTo>
                    <a:pt x="5974400" y="0"/>
                  </a:lnTo>
                  <a:lnTo>
                    <a:pt x="5974400" y="1347997"/>
                  </a:lnTo>
                  <a:lnTo>
                    <a:pt x="0" y="134799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6358" r="0" b="-3635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5974398" cy="140515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795"/>
                </a:lnSpc>
              </a:pPr>
              <a:r>
                <a:rPr lang="en-US" sz="4200">
                  <a:solidFill>
                    <a:srgbClr val="334157"/>
                  </a:solidFill>
                  <a:latin typeface="Baloo"/>
                  <a:ea typeface="Baloo"/>
                  <a:cs typeface="Baloo"/>
                  <a:sym typeface="Baloo"/>
                </a:rPr>
                <a:t>t</a:t>
              </a:r>
              <a:r>
                <a:rPr lang="en-US" sz="4200">
                  <a:solidFill>
                    <a:srgbClr val="334157"/>
                  </a:solidFill>
                  <a:latin typeface="Baloo"/>
                  <a:ea typeface="Baloo"/>
                  <a:cs typeface="Baloo"/>
                  <a:sym typeface="Baloo"/>
                </a:rPr>
                <a:t>raffic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34712" y="2720311"/>
            <a:ext cx="5783833" cy="3239186"/>
          </a:xfrm>
          <a:custGeom>
            <a:avLst/>
            <a:gdLst/>
            <a:ahLst/>
            <a:cxnLst/>
            <a:rect r="r" b="b" t="t" l="l"/>
            <a:pathLst>
              <a:path h="3239186" w="5783833">
                <a:moveTo>
                  <a:pt x="0" y="0"/>
                </a:moveTo>
                <a:lnTo>
                  <a:pt x="5783833" y="0"/>
                </a:lnTo>
                <a:lnTo>
                  <a:pt x="5783833" y="3239186"/>
                </a:lnTo>
                <a:lnTo>
                  <a:pt x="0" y="323918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094348" y="2613977"/>
            <a:ext cx="5545238" cy="3451855"/>
          </a:xfrm>
          <a:custGeom>
            <a:avLst/>
            <a:gdLst/>
            <a:ahLst/>
            <a:cxnLst/>
            <a:rect r="r" b="b" t="t" l="l"/>
            <a:pathLst>
              <a:path h="3451855" w="5545238">
                <a:moveTo>
                  <a:pt x="0" y="0"/>
                </a:moveTo>
                <a:lnTo>
                  <a:pt x="5545239" y="0"/>
                </a:lnTo>
                <a:lnTo>
                  <a:pt x="5545239" y="3451855"/>
                </a:lnTo>
                <a:lnTo>
                  <a:pt x="0" y="345185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31429" y="991000"/>
            <a:ext cx="9088993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>
                <a:solidFill>
                  <a:srgbClr val="334157"/>
                </a:solidFill>
                <a:latin typeface="Baloo"/>
                <a:ea typeface="Baloo"/>
                <a:cs typeface="Baloo"/>
                <a:sym typeface="Baloo"/>
              </a:rPr>
              <a:t>Wha</a:t>
            </a:r>
            <a:r>
              <a:rPr lang="en-US" sz="6400">
                <a:solidFill>
                  <a:srgbClr val="334157"/>
                </a:solidFill>
                <a:latin typeface="Baloo"/>
                <a:ea typeface="Baloo"/>
                <a:cs typeface="Baloo"/>
                <a:sym typeface="Baloo"/>
              </a:rPr>
              <a:t>t doesn't affect fare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582544" y="2720311"/>
            <a:ext cx="5122913" cy="3117859"/>
          </a:xfrm>
          <a:custGeom>
            <a:avLst/>
            <a:gdLst/>
            <a:ahLst/>
            <a:cxnLst/>
            <a:rect r="r" b="b" t="t" l="l"/>
            <a:pathLst>
              <a:path h="3117859" w="5122913">
                <a:moveTo>
                  <a:pt x="0" y="0"/>
                </a:moveTo>
                <a:lnTo>
                  <a:pt x="5122912" y="0"/>
                </a:lnTo>
                <a:lnTo>
                  <a:pt x="5122912" y="3117859"/>
                </a:lnTo>
                <a:lnTo>
                  <a:pt x="0" y="311785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97258" y="7874251"/>
            <a:ext cx="16042329" cy="100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2"/>
              </a:lnSpc>
            </a:pPr>
            <a:r>
              <a:rPr lang="en-US" sz="2900">
                <a:solidFill>
                  <a:srgbClr val="737373"/>
                </a:solidFill>
                <a:latin typeface="DM Sans"/>
                <a:ea typeface="DM Sans"/>
                <a:cs typeface="DM Sans"/>
                <a:sym typeface="DM Sans"/>
              </a:rPr>
              <a:t>Insight</a:t>
            </a:r>
            <a:r>
              <a:rPr lang="en-US" b="true" sz="2900">
                <a:solidFill>
                  <a:srgbClr val="6389EB"/>
                </a:solidFill>
                <a:latin typeface="DM Sans Bold"/>
                <a:ea typeface="DM Sans Bold"/>
                <a:cs typeface="DM Sans Bold"/>
                <a:sym typeface="DM Sans Bold"/>
              </a:rPr>
              <a:t>: </a:t>
            </a:r>
            <a:r>
              <a:rPr lang="en-US" b="true" sz="2900">
                <a:solidFill>
                  <a:srgbClr val="FF3131"/>
                </a:solidFill>
                <a:latin typeface="DM Sans Bold"/>
                <a:ea typeface="DM Sans Bold"/>
                <a:cs typeface="DM Sans Bold"/>
                <a:sym typeface="DM Sans Bold"/>
              </a:rPr>
              <a:t>Uber's core pricing model is driven by trip mechanics (distance/time), not ride conditions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024379" y="-6016390"/>
            <a:ext cx="26580627" cy="20746469"/>
          </a:xfrm>
          <a:custGeom>
            <a:avLst/>
            <a:gdLst/>
            <a:ahLst/>
            <a:cxnLst/>
            <a:rect r="r" b="b" t="t" l="l"/>
            <a:pathLst>
              <a:path h="20746469" w="26580627">
                <a:moveTo>
                  <a:pt x="0" y="0"/>
                </a:moveTo>
                <a:lnTo>
                  <a:pt x="26580627" y="0"/>
                </a:lnTo>
                <a:lnTo>
                  <a:pt x="26580627" y="20746469"/>
                </a:lnTo>
                <a:lnTo>
                  <a:pt x="0" y="207464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4633" y="1934223"/>
            <a:ext cx="9444564" cy="4770882"/>
            <a:chOff x="0" y="0"/>
            <a:chExt cx="13088543" cy="66116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88542" cy="6611629"/>
            </a:xfrm>
            <a:custGeom>
              <a:avLst/>
              <a:gdLst/>
              <a:ahLst/>
              <a:cxnLst/>
              <a:rect r="r" b="b" t="t" l="l"/>
              <a:pathLst>
                <a:path h="6611629" w="13088542">
                  <a:moveTo>
                    <a:pt x="0" y="0"/>
                  </a:moveTo>
                  <a:lnTo>
                    <a:pt x="13088542" y="0"/>
                  </a:lnTo>
                  <a:lnTo>
                    <a:pt x="13088542" y="6611629"/>
                  </a:lnTo>
                  <a:lnTo>
                    <a:pt x="0" y="661162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29" t="0" r="-463" b="2231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3088543" cy="66116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800"/>
                </a:lnSpc>
              </a:pPr>
              <a:r>
                <a:rPr lang="en-US" sz="9000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5CE1E6">
                          <a:alpha val="100000"/>
                        </a:srgbClr>
                      </a:gs>
                    </a:gsLst>
                    <a:lin ang="0"/>
                  </a:gradFill>
                  <a:latin typeface="Baloo"/>
                  <a:ea typeface="Baloo"/>
                  <a:cs typeface="Baloo"/>
                  <a:sym typeface="Baloo"/>
                </a:rPr>
                <a:t>3) Extra Questions for  More Insights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634109" y="2337521"/>
            <a:ext cx="1306697" cy="1289580"/>
          </a:xfrm>
          <a:custGeom>
            <a:avLst/>
            <a:gdLst/>
            <a:ahLst/>
            <a:cxnLst/>
            <a:rect r="r" b="b" t="t" l="l"/>
            <a:pathLst>
              <a:path h="1289580" w="1306697">
                <a:moveTo>
                  <a:pt x="0" y="0"/>
                </a:moveTo>
                <a:lnTo>
                  <a:pt x="1306697" y="0"/>
                </a:lnTo>
                <a:lnTo>
                  <a:pt x="1306697" y="1289580"/>
                </a:lnTo>
                <a:lnTo>
                  <a:pt x="0" y="12895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665695" y="1934223"/>
            <a:ext cx="5318836" cy="3437249"/>
          </a:xfrm>
          <a:custGeom>
            <a:avLst/>
            <a:gdLst/>
            <a:ahLst/>
            <a:cxnLst/>
            <a:rect r="r" b="b" t="t" l="l"/>
            <a:pathLst>
              <a:path h="3437249" w="5318836">
                <a:moveTo>
                  <a:pt x="0" y="0"/>
                </a:moveTo>
                <a:lnTo>
                  <a:pt x="5318836" y="0"/>
                </a:lnTo>
                <a:lnTo>
                  <a:pt x="5318836" y="3437248"/>
                </a:lnTo>
                <a:lnTo>
                  <a:pt x="0" y="34372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265554" y="5737974"/>
            <a:ext cx="943889" cy="1424692"/>
          </a:xfrm>
          <a:custGeom>
            <a:avLst/>
            <a:gdLst/>
            <a:ahLst/>
            <a:cxnLst/>
            <a:rect r="r" b="b" t="t" l="l"/>
            <a:pathLst>
              <a:path h="1424692" w="943889">
                <a:moveTo>
                  <a:pt x="0" y="0"/>
                </a:moveTo>
                <a:lnTo>
                  <a:pt x="943890" y="0"/>
                </a:lnTo>
                <a:lnTo>
                  <a:pt x="943890" y="1424693"/>
                </a:lnTo>
                <a:lnTo>
                  <a:pt x="0" y="14246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960309" y="2437809"/>
            <a:ext cx="180842" cy="188976"/>
            <a:chOff x="0" y="0"/>
            <a:chExt cx="241122" cy="2519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1173" cy="251968"/>
            </a:xfrm>
            <a:custGeom>
              <a:avLst/>
              <a:gdLst/>
              <a:ahLst/>
              <a:cxnLst/>
              <a:rect r="r" b="b" t="t" l="l"/>
              <a:pathLst>
                <a:path h="251968" w="241173">
                  <a:moveTo>
                    <a:pt x="0" y="0"/>
                  </a:moveTo>
                  <a:lnTo>
                    <a:pt x="241173" y="251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1" id="11"/>
          <p:cNvSpPr/>
          <p:nvPr/>
        </p:nvSpPr>
        <p:spPr>
          <a:xfrm rot="2769660">
            <a:off x="15920190" y="2527192"/>
            <a:ext cx="26104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5925762" y="2403262"/>
            <a:ext cx="251965" cy="256022"/>
            <a:chOff x="0" y="0"/>
            <a:chExt cx="335953" cy="3413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6042" cy="341376"/>
            </a:xfrm>
            <a:custGeom>
              <a:avLst/>
              <a:gdLst/>
              <a:ahLst/>
              <a:cxnLst/>
              <a:rect r="r" b="b" t="t" l="l"/>
              <a:pathLst>
                <a:path h="341376" w="336042">
                  <a:moveTo>
                    <a:pt x="241173" y="341376"/>
                  </a:moveTo>
                  <a:lnTo>
                    <a:pt x="336042" y="251968"/>
                  </a:lnTo>
                  <a:lnTo>
                    <a:pt x="97536" y="0"/>
                  </a:lnTo>
                  <a:lnTo>
                    <a:pt x="0" y="89408"/>
                  </a:lnTo>
                  <a:lnTo>
                    <a:pt x="241173" y="341376"/>
                  </a:lnTo>
                  <a:close/>
                </a:path>
              </a:pathLst>
            </a:custGeom>
            <a:solidFill>
              <a:srgbClr val="334157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6049711" y="2531278"/>
            <a:ext cx="666474" cy="698992"/>
          </a:xfrm>
          <a:custGeom>
            <a:avLst/>
            <a:gdLst/>
            <a:ahLst/>
            <a:cxnLst/>
            <a:rect r="r" b="b" t="t" l="l"/>
            <a:pathLst>
              <a:path h="698992" w="666474">
                <a:moveTo>
                  <a:pt x="0" y="0"/>
                </a:moveTo>
                <a:lnTo>
                  <a:pt x="666474" y="0"/>
                </a:lnTo>
                <a:lnTo>
                  <a:pt x="666474" y="698992"/>
                </a:lnTo>
                <a:lnTo>
                  <a:pt x="0" y="6989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6049711" y="2701966"/>
            <a:ext cx="664445" cy="518141"/>
            <a:chOff x="0" y="0"/>
            <a:chExt cx="885927" cy="6908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85952" cy="690880"/>
            </a:xfrm>
            <a:custGeom>
              <a:avLst/>
              <a:gdLst/>
              <a:ahLst/>
              <a:cxnLst/>
              <a:rect r="r" b="b" t="t" l="l"/>
              <a:pathLst>
                <a:path h="690880" w="885952">
                  <a:moveTo>
                    <a:pt x="0" y="0"/>
                  </a:moveTo>
                  <a:cubicBezTo>
                    <a:pt x="628523" y="661162"/>
                    <a:pt x="628523" y="661162"/>
                    <a:pt x="628523" y="661162"/>
                  </a:cubicBezTo>
                  <a:cubicBezTo>
                    <a:pt x="645795" y="680974"/>
                    <a:pt x="673100" y="690880"/>
                    <a:pt x="697865" y="690880"/>
                  </a:cubicBezTo>
                  <a:cubicBezTo>
                    <a:pt x="720090" y="690880"/>
                    <a:pt x="742442" y="683514"/>
                    <a:pt x="759714" y="666115"/>
                  </a:cubicBezTo>
                  <a:cubicBezTo>
                    <a:pt x="794385" y="633984"/>
                    <a:pt x="794385" y="633984"/>
                    <a:pt x="794385" y="633984"/>
                  </a:cubicBezTo>
                  <a:cubicBezTo>
                    <a:pt x="858774" y="572135"/>
                    <a:pt x="858774" y="572135"/>
                    <a:pt x="858774" y="572135"/>
                  </a:cubicBezTo>
                  <a:cubicBezTo>
                    <a:pt x="878586" y="554863"/>
                    <a:pt x="885952" y="530098"/>
                    <a:pt x="885952" y="507746"/>
                  </a:cubicBezTo>
                  <a:cubicBezTo>
                    <a:pt x="885952" y="507746"/>
                    <a:pt x="885952" y="505333"/>
                    <a:pt x="885952" y="50533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C69B2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5013419" y="1478728"/>
            <a:ext cx="1095213" cy="1091155"/>
          </a:xfrm>
          <a:custGeom>
            <a:avLst/>
            <a:gdLst/>
            <a:ahLst/>
            <a:cxnLst/>
            <a:rect r="r" b="b" t="t" l="l"/>
            <a:pathLst>
              <a:path h="1091155" w="1095213">
                <a:moveTo>
                  <a:pt x="0" y="0"/>
                </a:moveTo>
                <a:lnTo>
                  <a:pt x="1095213" y="0"/>
                </a:lnTo>
                <a:lnTo>
                  <a:pt x="1095213" y="1091155"/>
                </a:lnTo>
                <a:lnTo>
                  <a:pt x="0" y="109115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5263346" y="1568139"/>
            <a:ext cx="824970" cy="1001744"/>
            <a:chOff x="0" y="0"/>
            <a:chExt cx="1099960" cy="13356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9947" cy="1335659"/>
            </a:xfrm>
            <a:custGeom>
              <a:avLst/>
              <a:gdLst/>
              <a:ahLst/>
              <a:cxnLst/>
              <a:rect r="r" b="b" t="t" l="l"/>
              <a:pathLst>
                <a:path h="1335659" w="1099947">
                  <a:moveTo>
                    <a:pt x="1099947" y="415544"/>
                  </a:moveTo>
                  <a:cubicBezTo>
                    <a:pt x="502920" y="1328293"/>
                    <a:pt x="502920" y="1328293"/>
                    <a:pt x="502920" y="1328293"/>
                  </a:cubicBezTo>
                  <a:cubicBezTo>
                    <a:pt x="468249" y="1333246"/>
                    <a:pt x="433578" y="1335659"/>
                    <a:pt x="398907" y="1335659"/>
                  </a:cubicBezTo>
                  <a:cubicBezTo>
                    <a:pt x="250317" y="1335659"/>
                    <a:pt x="114046" y="1293622"/>
                    <a:pt x="0" y="1219454"/>
                  </a:cubicBezTo>
                  <a:cubicBezTo>
                    <a:pt x="800227" y="0"/>
                    <a:pt x="800227" y="0"/>
                    <a:pt x="800227" y="0"/>
                  </a:cubicBezTo>
                  <a:cubicBezTo>
                    <a:pt x="943864" y="96520"/>
                    <a:pt x="1052957" y="242443"/>
                    <a:pt x="1099947" y="415544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056091" y="1478728"/>
            <a:ext cx="688829" cy="920467"/>
            <a:chOff x="0" y="0"/>
            <a:chExt cx="918439" cy="12272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8464" cy="1227328"/>
            </a:xfrm>
            <a:custGeom>
              <a:avLst/>
              <a:gdLst/>
              <a:ahLst/>
              <a:cxnLst/>
              <a:rect r="r" b="b" t="t" l="l"/>
              <a:pathLst>
                <a:path h="1227328" w="918464">
                  <a:moveTo>
                    <a:pt x="918464" y="42037"/>
                  </a:moveTo>
                  <a:cubicBezTo>
                    <a:pt x="143637" y="1227328"/>
                    <a:pt x="143637" y="1227328"/>
                    <a:pt x="143637" y="1227328"/>
                  </a:cubicBezTo>
                  <a:cubicBezTo>
                    <a:pt x="81661" y="1165479"/>
                    <a:pt x="34671" y="1091184"/>
                    <a:pt x="0" y="1009523"/>
                  </a:cubicBezTo>
                  <a:cubicBezTo>
                    <a:pt x="661035" y="0"/>
                    <a:pt x="661035" y="0"/>
                    <a:pt x="661035" y="0"/>
                  </a:cubicBezTo>
                  <a:cubicBezTo>
                    <a:pt x="663448" y="0"/>
                    <a:pt x="668401" y="0"/>
                    <a:pt x="673354" y="0"/>
                  </a:cubicBezTo>
                  <a:cubicBezTo>
                    <a:pt x="759968" y="0"/>
                    <a:pt x="841756" y="14859"/>
                    <a:pt x="918464" y="42037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858990" y="1322270"/>
            <a:ext cx="1402042" cy="1402042"/>
            <a:chOff x="0" y="0"/>
            <a:chExt cx="1869389" cy="186938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12530" y="112881"/>
              <a:ext cx="1644254" cy="1645067"/>
            </a:xfrm>
            <a:custGeom>
              <a:avLst/>
              <a:gdLst/>
              <a:ahLst/>
              <a:cxnLst/>
              <a:rect r="r" b="b" t="t" l="l"/>
              <a:pathLst>
                <a:path h="1645067" w="1644254">
                  <a:moveTo>
                    <a:pt x="496562" y="1578251"/>
                  </a:moveTo>
                  <a:cubicBezTo>
                    <a:pt x="912487" y="1756559"/>
                    <a:pt x="1395341" y="1565932"/>
                    <a:pt x="1576062" y="1149880"/>
                  </a:cubicBezTo>
                  <a:cubicBezTo>
                    <a:pt x="1756783" y="733828"/>
                    <a:pt x="1566156" y="248561"/>
                    <a:pt x="1147691" y="67840"/>
                  </a:cubicBezTo>
                  <a:cubicBezTo>
                    <a:pt x="731766" y="-112881"/>
                    <a:pt x="248912" y="80159"/>
                    <a:pt x="68191" y="496211"/>
                  </a:cubicBezTo>
                  <a:cubicBezTo>
                    <a:pt x="-112530" y="912263"/>
                    <a:pt x="78097" y="1397530"/>
                    <a:pt x="496562" y="1578251"/>
                  </a:cubicBezTo>
                  <a:close/>
                  <a:moveTo>
                    <a:pt x="1437505" y="1088031"/>
                  </a:moveTo>
                  <a:cubicBezTo>
                    <a:pt x="1288915" y="1427248"/>
                    <a:pt x="895215" y="1583204"/>
                    <a:pt x="555998" y="1437154"/>
                  </a:cubicBezTo>
                  <a:cubicBezTo>
                    <a:pt x="216781" y="1291104"/>
                    <a:pt x="60825" y="894864"/>
                    <a:pt x="206875" y="558060"/>
                  </a:cubicBezTo>
                  <a:cubicBezTo>
                    <a:pt x="355465" y="218843"/>
                    <a:pt x="749165" y="62887"/>
                    <a:pt x="1088382" y="208937"/>
                  </a:cubicBezTo>
                  <a:cubicBezTo>
                    <a:pt x="1427599" y="354987"/>
                    <a:pt x="1583555" y="751227"/>
                    <a:pt x="1437505" y="1087904"/>
                  </a:cubicBezTo>
                  <a:close/>
                </a:path>
              </a:pathLst>
            </a:custGeom>
            <a:solidFill>
              <a:srgbClr val="FFC53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550313" y="581435"/>
            <a:ext cx="603199" cy="995153"/>
            <a:chOff x="0" y="0"/>
            <a:chExt cx="804266" cy="13268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4291" cy="1326769"/>
            </a:xfrm>
            <a:custGeom>
              <a:avLst/>
              <a:gdLst/>
              <a:ahLst/>
              <a:cxnLst/>
              <a:rect r="r" b="b" t="t" l="l"/>
              <a:pathLst>
                <a:path h="1326769" w="804291">
                  <a:moveTo>
                    <a:pt x="804291" y="694563"/>
                  </a:moveTo>
                  <a:lnTo>
                    <a:pt x="400685" y="0"/>
                  </a:lnTo>
                  <a:lnTo>
                    <a:pt x="0" y="694563"/>
                  </a:lnTo>
                  <a:lnTo>
                    <a:pt x="204724" y="694563"/>
                  </a:lnTo>
                  <a:lnTo>
                    <a:pt x="204724" y="1326769"/>
                  </a:lnTo>
                  <a:lnTo>
                    <a:pt x="596519" y="1326769"/>
                  </a:lnTo>
                  <a:lnTo>
                    <a:pt x="596519" y="694563"/>
                  </a:lnTo>
                  <a:lnTo>
                    <a:pt x="804291" y="694563"/>
                  </a:lnTo>
                  <a:close/>
                </a:path>
              </a:pathLst>
            </a:custGeom>
            <a:solidFill>
              <a:srgbClr val="FF9D3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933564" y="2016528"/>
            <a:ext cx="314896" cy="519446"/>
            <a:chOff x="0" y="0"/>
            <a:chExt cx="419862" cy="69259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9862" cy="692658"/>
            </a:xfrm>
            <a:custGeom>
              <a:avLst/>
              <a:gdLst/>
              <a:ahLst/>
              <a:cxnLst/>
              <a:rect r="r" b="b" t="t" l="l"/>
              <a:pathLst>
                <a:path h="692658" w="419862">
                  <a:moveTo>
                    <a:pt x="419862" y="362585"/>
                  </a:moveTo>
                  <a:lnTo>
                    <a:pt x="209169" y="0"/>
                  </a:lnTo>
                  <a:lnTo>
                    <a:pt x="0" y="362585"/>
                  </a:lnTo>
                  <a:lnTo>
                    <a:pt x="106934" y="362585"/>
                  </a:lnTo>
                  <a:lnTo>
                    <a:pt x="106934" y="692658"/>
                  </a:lnTo>
                  <a:lnTo>
                    <a:pt x="311404" y="692658"/>
                  </a:lnTo>
                  <a:lnTo>
                    <a:pt x="311404" y="362585"/>
                  </a:lnTo>
                  <a:lnTo>
                    <a:pt x="419862" y="362585"/>
                  </a:lnTo>
                  <a:close/>
                </a:path>
              </a:pathLst>
            </a:custGeom>
            <a:solidFill>
              <a:srgbClr val="FF7A78"/>
            </a:soli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11511191" y="5647201"/>
            <a:ext cx="830399" cy="830399"/>
          </a:xfrm>
          <a:custGeom>
            <a:avLst/>
            <a:gdLst/>
            <a:ahLst/>
            <a:cxnLst/>
            <a:rect r="r" b="b" t="t" l="l"/>
            <a:pathLst>
              <a:path h="830399" w="830399">
                <a:moveTo>
                  <a:pt x="0" y="0"/>
                </a:moveTo>
                <a:lnTo>
                  <a:pt x="830399" y="0"/>
                </a:lnTo>
                <a:lnTo>
                  <a:pt x="830399" y="830399"/>
                </a:lnTo>
                <a:lnTo>
                  <a:pt x="0" y="83039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586945" y="5138223"/>
            <a:ext cx="1306668" cy="1848450"/>
          </a:xfrm>
          <a:custGeom>
            <a:avLst/>
            <a:gdLst/>
            <a:ahLst/>
            <a:cxnLst/>
            <a:rect r="r" b="b" t="t" l="l"/>
            <a:pathLst>
              <a:path h="1848450" w="1306668">
                <a:moveTo>
                  <a:pt x="0" y="0"/>
                </a:moveTo>
                <a:lnTo>
                  <a:pt x="1306668" y="0"/>
                </a:lnTo>
                <a:lnTo>
                  <a:pt x="1306668" y="1848450"/>
                </a:lnTo>
                <a:lnTo>
                  <a:pt x="0" y="18484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13462" y="-4369794"/>
            <a:ext cx="23821025" cy="16759514"/>
          </a:xfrm>
          <a:custGeom>
            <a:avLst/>
            <a:gdLst/>
            <a:ahLst/>
            <a:cxnLst/>
            <a:rect r="r" b="b" t="t" l="l"/>
            <a:pathLst>
              <a:path h="16759514" w="23821025">
                <a:moveTo>
                  <a:pt x="0" y="0"/>
                </a:moveTo>
                <a:lnTo>
                  <a:pt x="23821025" y="0"/>
                </a:lnTo>
                <a:lnTo>
                  <a:pt x="23821025" y="16759514"/>
                </a:lnTo>
                <a:lnTo>
                  <a:pt x="0" y="167595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5551" y="323888"/>
            <a:ext cx="14867773" cy="9746409"/>
          </a:xfrm>
          <a:custGeom>
            <a:avLst/>
            <a:gdLst/>
            <a:ahLst/>
            <a:cxnLst/>
            <a:rect r="r" b="b" t="t" l="l"/>
            <a:pathLst>
              <a:path h="9746409" w="14867773">
                <a:moveTo>
                  <a:pt x="0" y="0"/>
                </a:moveTo>
                <a:lnTo>
                  <a:pt x="14867773" y="0"/>
                </a:lnTo>
                <a:lnTo>
                  <a:pt x="14867773" y="9746409"/>
                </a:lnTo>
                <a:lnTo>
                  <a:pt x="0" y="97464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73152" y="463848"/>
            <a:ext cx="2036188" cy="2422769"/>
          </a:xfrm>
          <a:custGeom>
            <a:avLst/>
            <a:gdLst/>
            <a:ahLst/>
            <a:cxnLst/>
            <a:rect r="r" b="b" t="t" l="l"/>
            <a:pathLst>
              <a:path h="2422769" w="2036188">
                <a:moveTo>
                  <a:pt x="0" y="0"/>
                </a:moveTo>
                <a:lnTo>
                  <a:pt x="2036188" y="0"/>
                </a:lnTo>
                <a:lnTo>
                  <a:pt x="2036188" y="2422770"/>
                </a:lnTo>
                <a:lnTo>
                  <a:pt x="0" y="24227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36252" y="2074146"/>
            <a:ext cx="9748477" cy="6536917"/>
          </a:xfrm>
          <a:custGeom>
            <a:avLst/>
            <a:gdLst/>
            <a:ahLst/>
            <a:cxnLst/>
            <a:rect r="r" b="b" t="t" l="l"/>
            <a:pathLst>
              <a:path h="6536917" w="9748477">
                <a:moveTo>
                  <a:pt x="0" y="0"/>
                </a:moveTo>
                <a:lnTo>
                  <a:pt x="9748477" y="0"/>
                </a:lnTo>
                <a:lnTo>
                  <a:pt x="9748477" y="6536917"/>
                </a:lnTo>
                <a:lnTo>
                  <a:pt x="0" y="65369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36252" y="971550"/>
            <a:ext cx="8564859" cy="553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3"/>
              </a:lnSpc>
            </a:pPr>
            <a:r>
              <a:rPr lang="en-US" b="true" sz="3299">
                <a:solidFill>
                  <a:srgbClr val="6389EB"/>
                </a:solidFill>
                <a:latin typeface="DM Sans Bold"/>
                <a:ea typeface="DM Sans Bold"/>
                <a:cs typeface="DM Sans Bold"/>
                <a:sym typeface="DM Sans Bold"/>
              </a:rPr>
              <a:t>Solo rides dominate demand (Q11)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51305" y="2462907"/>
            <a:ext cx="5221848" cy="1961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1"/>
              </a:lnSpc>
            </a:pPr>
            <a:r>
              <a:rPr lang="en-US" sz="2841">
                <a:solidFill>
                  <a:srgbClr val="737373"/>
                </a:solidFill>
                <a:latin typeface="DM Sans"/>
                <a:ea typeface="DM Sans"/>
                <a:cs typeface="DM Sans"/>
                <a:sym typeface="DM Sans"/>
              </a:rPr>
              <a:t>Insight</a:t>
            </a:r>
            <a:r>
              <a:rPr lang="en-US" b="true" sz="2841">
                <a:solidFill>
                  <a:srgbClr val="6389EB"/>
                </a:solidFill>
                <a:latin typeface="DM Sans Bold"/>
                <a:ea typeface="DM Sans Bold"/>
                <a:cs typeface="DM Sans Bold"/>
                <a:sym typeface="DM Sans Bold"/>
              </a:rPr>
              <a:t>: </a:t>
            </a:r>
            <a:r>
              <a:rPr lang="en-US" b="true" sz="2841">
                <a:solidFill>
                  <a:srgbClr val="FF3131"/>
                </a:solidFill>
                <a:latin typeface="DM Sans Bold"/>
                <a:ea typeface="DM Sans Bold"/>
                <a:cs typeface="DM Sans Bold"/>
                <a:sym typeface="DM Sans Bold"/>
              </a:rPr>
              <a:t>1-passenger rides are by far the most common — single commuters drive peak demand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13462" y="-4369794"/>
            <a:ext cx="23821025" cy="16759514"/>
          </a:xfrm>
          <a:custGeom>
            <a:avLst/>
            <a:gdLst/>
            <a:ahLst/>
            <a:cxnLst/>
            <a:rect r="r" b="b" t="t" l="l"/>
            <a:pathLst>
              <a:path h="16759514" w="23821025">
                <a:moveTo>
                  <a:pt x="0" y="0"/>
                </a:moveTo>
                <a:lnTo>
                  <a:pt x="23821025" y="0"/>
                </a:lnTo>
                <a:lnTo>
                  <a:pt x="23821025" y="16759514"/>
                </a:lnTo>
                <a:lnTo>
                  <a:pt x="0" y="167595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5551" y="323888"/>
            <a:ext cx="14867773" cy="9746409"/>
          </a:xfrm>
          <a:custGeom>
            <a:avLst/>
            <a:gdLst/>
            <a:ahLst/>
            <a:cxnLst/>
            <a:rect r="r" b="b" t="t" l="l"/>
            <a:pathLst>
              <a:path h="9746409" w="14867773">
                <a:moveTo>
                  <a:pt x="0" y="0"/>
                </a:moveTo>
                <a:lnTo>
                  <a:pt x="14867773" y="0"/>
                </a:lnTo>
                <a:lnTo>
                  <a:pt x="14867773" y="9746409"/>
                </a:lnTo>
                <a:lnTo>
                  <a:pt x="0" y="97464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73152" y="463848"/>
            <a:ext cx="2036188" cy="2422769"/>
          </a:xfrm>
          <a:custGeom>
            <a:avLst/>
            <a:gdLst/>
            <a:ahLst/>
            <a:cxnLst/>
            <a:rect r="r" b="b" t="t" l="l"/>
            <a:pathLst>
              <a:path h="2422769" w="2036188">
                <a:moveTo>
                  <a:pt x="0" y="0"/>
                </a:moveTo>
                <a:lnTo>
                  <a:pt x="2036188" y="0"/>
                </a:lnTo>
                <a:lnTo>
                  <a:pt x="2036188" y="2422770"/>
                </a:lnTo>
                <a:lnTo>
                  <a:pt x="0" y="24227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3628" y="2139452"/>
            <a:ext cx="12050070" cy="6008095"/>
          </a:xfrm>
          <a:custGeom>
            <a:avLst/>
            <a:gdLst/>
            <a:ahLst/>
            <a:cxnLst/>
            <a:rect r="r" b="b" t="t" l="l"/>
            <a:pathLst>
              <a:path h="6008095" w="12050070">
                <a:moveTo>
                  <a:pt x="0" y="0"/>
                </a:moveTo>
                <a:lnTo>
                  <a:pt x="12050071" y="0"/>
                </a:lnTo>
                <a:lnTo>
                  <a:pt x="12050071" y="6008096"/>
                </a:lnTo>
                <a:lnTo>
                  <a:pt x="0" y="60080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82289" y="971550"/>
            <a:ext cx="8564859" cy="553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3"/>
              </a:lnSpc>
            </a:pPr>
            <a:r>
              <a:rPr lang="en-US" b="true" sz="3299">
                <a:solidFill>
                  <a:srgbClr val="6389EB"/>
                </a:solidFill>
                <a:latin typeface="DM Sans Bold"/>
                <a:ea typeface="DM Sans Bold"/>
                <a:cs typeface="DM Sans Bold"/>
                <a:sym typeface="DM Sans Bold"/>
              </a:rPr>
              <a:t>Fa</a:t>
            </a:r>
            <a:r>
              <a:rPr lang="en-US" b="true" sz="3299">
                <a:solidFill>
                  <a:srgbClr val="6389EB"/>
                </a:solidFill>
                <a:latin typeface="DM Sans Bold"/>
                <a:ea typeface="DM Sans Bold"/>
                <a:cs typeface="DM Sans Bold"/>
                <a:sym typeface="DM Sans Bold"/>
              </a:rPr>
              <a:t>re trend over years (Q14)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46380" y="2617766"/>
            <a:ext cx="5221848" cy="97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1"/>
              </a:lnSpc>
            </a:pPr>
            <a:r>
              <a:rPr lang="en-US" sz="2841">
                <a:solidFill>
                  <a:srgbClr val="737373"/>
                </a:solidFill>
                <a:latin typeface="DM Sans"/>
                <a:ea typeface="DM Sans"/>
                <a:cs typeface="DM Sans"/>
                <a:sym typeface="DM Sans"/>
              </a:rPr>
              <a:t>Insight</a:t>
            </a:r>
            <a:r>
              <a:rPr lang="en-US" b="true" sz="2841">
                <a:solidFill>
                  <a:srgbClr val="6389EB"/>
                </a:solidFill>
                <a:latin typeface="DM Sans Bold"/>
                <a:ea typeface="DM Sans Bold"/>
                <a:cs typeface="DM Sans Bold"/>
                <a:sym typeface="DM Sans Bold"/>
              </a:rPr>
              <a:t>:</a:t>
            </a:r>
            <a:r>
              <a:rPr lang="en-US" b="true" sz="2841">
                <a:solidFill>
                  <a:srgbClr val="FF3131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2841">
                <a:solidFill>
                  <a:srgbClr val="FF3131"/>
                </a:solidFill>
                <a:latin typeface="DM Sans Bold"/>
                <a:ea typeface="DM Sans Bold"/>
                <a:cs typeface="DM Sans Bold"/>
                <a:sym typeface="DM Sans Bold"/>
              </a:rPr>
              <a:t>Fares rise with inflation over time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03937" y="-4369794"/>
            <a:ext cx="23821025" cy="16759514"/>
          </a:xfrm>
          <a:custGeom>
            <a:avLst/>
            <a:gdLst/>
            <a:ahLst/>
            <a:cxnLst/>
            <a:rect r="r" b="b" t="t" l="l"/>
            <a:pathLst>
              <a:path h="16759514" w="23821025">
                <a:moveTo>
                  <a:pt x="0" y="0"/>
                </a:moveTo>
                <a:lnTo>
                  <a:pt x="23821025" y="0"/>
                </a:lnTo>
                <a:lnTo>
                  <a:pt x="23821025" y="16759514"/>
                </a:lnTo>
                <a:lnTo>
                  <a:pt x="0" y="167595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6501" y="323888"/>
            <a:ext cx="14867773" cy="9746409"/>
          </a:xfrm>
          <a:custGeom>
            <a:avLst/>
            <a:gdLst/>
            <a:ahLst/>
            <a:cxnLst/>
            <a:rect r="r" b="b" t="t" l="l"/>
            <a:pathLst>
              <a:path h="9746409" w="14867773">
                <a:moveTo>
                  <a:pt x="0" y="0"/>
                </a:moveTo>
                <a:lnTo>
                  <a:pt x="14867773" y="0"/>
                </a:lnTo>
                <a:lnTo>
                  <a:pt x="14867773" y="9746409"/>
                </a:lnTo>
                <a:lnTo>
                  <a:pt x="0" y="97464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73152" y="463848"/>
            <a:ext cx="2036188" cy="2422769"/>
          </a:xfrm>
          <a:custGeom>
            <a:avLst/>
            <a:gdLst/>
            <a:ahLst/>
            <a:cxnLst/>
            <a:rect r="r" b="b" t="t" l="l"/>
            <a:pathLst>
              <a:path h="2422769" w="2036188">
                <a:moveTo>
                  <a:pt x="0" y="0"/>
                </a:moveTo>
                <a:lnTo>
                  <a:pt x="2036188" y="0"/>
                </a:lnTo>
                <a:lnTo>
                  <a:pt x="2036188" y="2422770"/>
                </a:lnTo>
                <a:lnTo>
                  <a:pt x="0" y="24227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919220"/>
            <a:ext cx="8278556" cy="5784880"/>
          </a:xfrm>
          <a:custGeom>
            <a:avLst/>
            <a:gdLst/>
            <a:ahLst/>
            <a:cxnLst/>
            <a:rect r="r" b="b" t="t" l="l"/>
            <a:pathLst>
              <a:path h="5784880" w="8278556">
                <a:moveTo>
                  <a:pt x="0" y="0"/>
                </a:moveTo>
                <a:lnTo>
                  <a:pt x="8278556" y="0"/>
                </a:lnTo>
                <a:lnTo>
                  <a:pt x="8278556" y="5784880"/>
                </a:lnTo>
                <a:lnTo>
                  <a:pt x="0" y="57848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31802" y="5364727"/>
            <a:ext cx="4619961" cy="3717129"/>
          </a:xfrm>
          <a:custGeom>
            <a:avLst/>
            <a:gdLst/>
            <a:ahLst/>
            <a:cxnLst/>
            <a:rect r="r" b="b" t="t" l="l"/>
            <a:pathLst>
              <a:path h="3717129" w="4619961">
                <a:moveTo>
                  <a:pt x="0" y="0"/>
                </a:moveTo>
                <a:lnTo>
                  <a:pt x="4619961" y="0"/>
                </a:lnTo>
                <a:lnTo>
                  <a:pt x="4619961" y="3717129"/>
                </a:lnTo>
                <a:lnTo>
                  <a:pt x="0" y="37171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04412" y="971550"/>
            <a:ext cx="8564859" cy="553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3"/>
              </a:lnSpc>
            </a:pPr>
            <a:r>
              <a:rPr lang="en-US" b="true" sz="3299">
                <a:solidFill>
                  <a:srgbClr val="6389EB"/>
                </a:solidFill>
                <a:latin typeface="DM Sans Bold"/>
                <a:ea typeface="DM Sans Bold"/>
                <a:cs typeface="DM Sans Bold"/>
                <a:sym typeface="DM Sans Bold"/>
              </a:rPr>
              <a:t>Holidays</a:t>
            </a:r>
            <a:r>
              <a:rPr lang="en-US" b="true" sz="3299">
                <a:solidFill>
                  <a:srgbClr val="6389EB"/>
                </a:solidFill>
                <a:latin typeface="DM Sans Bold"/>
                <a:ea typeface="DM Sans Bold"/>
                <a:cs typeface="DM Sans Bold"/>
                <a:sym typeface="DM Sans Bold"/>
              </a:rPr>
              <a:t> vs non-holidays (Q10)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69271" y="2037923"/>
            <a:ext cx="5221848" cy="2950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1"/>
              </a:lnSpc>
            </a:pPr>
            <a:r>
              <a:rPr lang="en-US" sz="2841">
                <a:solidFill>
                  <a:srgbClr val="737373"/>
                </a:solidFill>
                <a:latin typeface="DM Sans"/>
                <a:ea typeface="DM Sans"/>
                <a:cs typeface="DM Sans"/>
                <a:sym typeface="DM Sans"/>
              </a:rPr>
              <a:t>Insight</a:t>
            </a:r>
            <a:r>
              <a:rPr lang="en-US" b="true" sz="2841">
                <a:solidFill>
                  <a:srgbClr val="6389EB"/>
                </a:solidFill>
                <a:latin typeface="DM Sans Bold"/>
                <a:ea typeface="DM Sans Bold"/>
                <a:cs typeface="DM Sans Bold"/>
                <a:sym typeface="DM Sans Bold"/>
              </a:rPr>
              <a:t>:</a:t>
            </a:r>
            <a:r>
              <a:rPr lang="en-US" b="true" sz="2841">
                <a:solidFill>
                  <a:srgbClr val="FF3131"/>
                </a:solidFill>
                <a:latin typeface="DM Sans Bold"/>
                <a:ea typeface="DM Sans Bold"/>
                <a:cs typeface="DM Sans Bold"/>
                <a:sym typeface="DM Sans Bold"/>
              </a:rPr>
              <a:t> Rides are requested more in a significant way in work days rather than holidays , but number of passengers variation is the same for both categories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03937" y="-4369794"/>
            <a:ext cx="23821025" cy="16759514"/>
          </a:xfrm>
          <a:custGeom>
            <a:avLst/>
            <a:gdLst/>
            <a:ahLst/>
            <a:cxnLst/>
            <a:rect r="r" b="b" t="t" l="l"/>
            <a:pathLst>
              <a:path h="16759514" w="23821025">
                <a:moveTo>
                  <a:pt x="0" y="0"/>
                </a:moveTo>
                <a:lnTo>
                  <a:pt x="23821025" y="0"/>
                </a:lnTo>
                <a:lnTo>
                  <a:pt x="23821025" y="16759514"/>
                </a:lnTo>
                <a:lnTo>
                  <a:pt x="0" y="167595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6501" y="323888"/>
            <a:ext cx="14867773" cy="9746409"/>
          </a:xfrm>
          <a:custGeom>
            <a:avLst/>
            <a:gdLst/>
            <a:ahLst/>
            <a:cxnLst/>
            <a:rect r="r" b="b" t="t" l="l"/>
            <a:pathLst>
              <a:path h="9746409" w="14867773">
                <a:moveTo>
                  <a:pt x="0" y="0"/>
                </a:moveTo>
                <a:lnTo>
                  <a:pt x="14867773" y="0"/>
                </a:lnTo>
                <a:lnTo>
                  <a:pt x="14867773" y="9746409"/>
                </a:lnTo>
                <a:lnTo>
                  <a:pt x="0" y="97464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73152" y="463848"/>
            <a:ext cx="2036188" cy="2422769"/>
          </a:xfrm>
          <a:custGeom>
            <a:avLst/>
            <a:gdLst/>
            <a:ahLst/>
            <a:cxnLst/>
            <a:rect r="r" b="b" t="t" l="l"/>
            <a:pathLst>
              <a:path h="2422769" w="2036188">
                <a:moveTo>
                  <a:pt x="0" y="0"/>
                </a:moveTo>
                <a:lnTo>
                  <a:pt x="2036188" y="0"/>
                </a:lnTo>
                <a:lnTo>
                  <a:pt x="2036188" y="2422770"/>
                </a:lnTo>
                <a:lnTo>
                  <a:pt x="0" y="24227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6085" y="2096262"/>
            <a:ext cx="9821512" cy="5840987"/>
          </a:xfrm>
          <a:custGeom>
            <a:avLst/>
            <a:gdLst/>
            <a:ahLst/>
            <a:cxnLst/>
            <a:rect r="r" b="b" t="t" l="l"/>
            <a:pathLst>
              <a:path h="5840987" w="9821512">
                <a:moveTo>
                  <a:pt x="0" y="0"/>
                </a:moveTo>
                <a:lnTo>
                  <a:pt x="9821512" y="0"/>
                </a:lnTo>
                <a:lnTo>
                  <a:pt x="9821512" y="5840987"/>
                </a:lnTo>
                <a:lnTo>
                  <a:pt x="0" y="58409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04412" y="971550"/>
            <a:ext cx="8564859" cy="112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3"/>
              </a:lnSpc>
            </a:pPr>
            <a:r>
              <a:rPr lang="en-US" sz="3299" b="true">
                <a:solidFill>
                  <a:srgbClr val="6389EB"/>
                </a:solidFill>
                <a:latin typeface="DM Sans Bold"/>
                <a:ea typeface="DM Sans Bold"/>
                <a:cs typeface="DM Sans Bold"/>
                <a:sym typeface="DM Sans Bold"/>
              </a:rPr>
              <a:t>Car condition</a:t>
            </a:r>
            <a:r>
              <a:rPr lang="en-US" sz="3299" b="true">
                <a:solidFill>
                  <a:srgbClr val="6389EB"/>
                </a:solidFill>
                <a:latin typeface="DM Sans Bold"/>
                <a:ea typeface="DM Sans Bold"/>
                <a:cs typeface="DM Sans Bold"/>
                <a:sym typeface="DM Sans Bold"/>
              </a:rPr>
              <a:t> vs passenger count (Q13)</a:t>
            </a:r>
          </a:p>
          <a:p>
            <a:pPr algn="l">
              <a:lnSpc>
                <a:spcPts val="455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152426" y="2989199"/>
            <a:ext cx="5221848" cy="1466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1"/>
              </a:lnSpc>
            </a:pPr>
            <a:r>
              <a:rPr lang="en-US" sz="2841">
                <a:solidFill>
                  <a:srgbClr val="737373"/>
                </a:solidFill>
                <a:latin typeface="DM Sans"/>
                <a:ea typeface="DM Sans"/>
                <a:cs typeface="DM Sans"/>
                <a:sym typeface="DM Sans"/>
              </a:rPr>
              <a:t>Insight</a:t>
            </a:r>
            <a:r>
              <a:rPr lang="en-US" b="true" sz="2841">
                <a:solidFill>
                  <a:srgbClr val="6389EB"/>
                </a:solidFill>
                <a:latin typeface="DM Sans Bold"/>
                <a:ea typeface="DM Sans Bold"/>
                <a:cs typeface="DM Sans Bold"/>
                <a:sym typeface="DM Sans Bold"/>
              </a:rPr>
              <a:t>:</a:t>
            </a:r>
            <a:r>
              <a:rPr lang="en-US" b="true" sz="2841">
                <a:solidFill>
                  <a:srgbClr val="FF3131"/>
                </a:solidFill>
                <a:latin typeface="DM Sans Bold"/>
                <a:ea typeface="DM Sans Bold"/>
                <a:cs typeface="DM Sans Bold"/>
                <a:sym typeface="DM Sans Bold"/>
              </a:rPr>
              <a:t> All types of car conditions share the same number of rides 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035896" y="-3787130"/>
            <a:ext cx="25807968" cy="17107519"/>
          </a:xfrm>
          <a:custGeom>
            <a:avLst/>
            <a:gdLst/>
            <a:ahLst/>
            <a:cxnLst/>
            <a:rect r="r" b="b" t="t" l="l"/>
            <a:pathLst>
              <a:path h="17107519" w="25807968">
                <a:moveTo>
                  <a:pt x="0" y="0"/>
                </a:moveTo>
                <a:lnTo>
                  <a:pt x="25807968" y="0"/>
                </a:lnTo>
                <a:lnTo>
                  <a:pt x="25807968" y="17107519"/>
                </a:lnTo>
                <a:lnTo>
                  <a:pt x="0" y="171075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7973" y="263642"/>
            <a:ext cx="17804501" cy="7569498"/>
          </a:xfrm>
          <a:custGeom>
            <a:avLst/>
            <a:gdLst/>
            <a:ahLst/>
            <a:cxnLst/>
            <a:rect r="r" b="b" t="t" l="l"/>
            <a:pathLst>
              <a:path h="7569498" w="17804501">
                <a:moveTo>
                  <a:pt x="0" y="0"/>
                </a:moveTo>
                <a:lnTo>
                  <a:pt x="17804501" y="0"/>
                </a:lnTo>
                <a:lnTo>
                  <a:pt x="17804501" y="7569499"/>
                </a:lnTo>
                <a:lnTo>
                  <a:pt x="0" y="75694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56335" y="7784773"/>
            <a:ext cx="3026588" cy="2847375"/>
          </a:xfrm>
          <a:custGeom>
            <a:avLst/>
            <a:gdLst/>
            <a:ahLst/>
            <a:cxnLst/>
            <a:rect r="r" b="b" t="t" l="l"/>
            <a:pathLst>
              <a:path h="2847375" w="3026588">
                <a:moveTo>
                  <a:pt x="0" y="0"/>
                </a:moveTo>
                <a:lnTo>
                  <a:pt x="3026588" y="0"/>
                </a:lnTo>
                <a:lnTo>
                  <a:pt x="3026588" y="2847375"/>
                </a:lnTo>
                <a:lnTo>
                  <a:pt x="0" y="28473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953025"/>
            <a:ext cx="10702552" cy="7932349"/>
          </a:xfrm>
          <a:custGeom>
            <a:avLst/>
            <a:gdLst/>
            <a:ahLst/>
            <a:cxnLst/>
            <a:rect r="r" b="b" t="t" l="l"/>
            <a:pathLst>
              <a:path h="7932349" w="10702552">
                <a:moveTo>
                  <a:pt x="0" y="0"/>
                </a:moveTo>
                <a:lnTo>
                  <a:pt x="10702552" y="0"/>
                </a:lnTo>
                <a:lnTo>
                  <a:pt x="10702552" y="7932349"/>
                </a:lnTo>
                <a:lnTo>
                  <a:pt x="0" y="79323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17875" y="991000"/>
            <a:ext cx="13606344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>
                <a:solidFill>
                  <a:srgbClr val="334157"/>
                </a:solidFill>
                <a:latin typeface="Baloo"/>
                <a:ea typeface="Baloo"/>
                <a:cs typeface="Baloo"/>
                <a:sym typeface="Baloo"/>
              </a:rPr>
              <a:t>Corre</a:t>
            </a:r>
            <a:r>
              <a:rPr lang="en-US" sz="6400">
                <a:solidFill>
                  <a:srgbClr val="334157"/>
                </a:solidFill>
                <a:latin typeface="Baloo"/>
                <a:ea typeface="Baloo"/>
                <a:cs typeface="Baloo"/>
                <a:sym typeface="Baloo"/>
              </a:rPr>
              <a:t>lation heatmap: The big picture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19651" y="2549220"/>
            <a:ext cx="5221848" cy="2950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1"/>
              </a:lnSpc>
            </a:pPr>
            <a:r>
              <a:rPr lang="en-US" sz="2841">
                <a:solidFill>
                  <a:srgbClr val="737373"/>
                </a:solidFill>
                <a:latin typeface="DM Sans"/>
                <a:ea typeface="DM Sans"/>
                <a:cs typeface="DM Sans"/>
                <a:sym typeface="DM Sans"/>
              </a:rPr>
              <a:t>Insight</a:t>
            </a:r>
            <a:r>
              <a:rPr lang="en-US" b="true" sz="2841">
                <a:solidFill>
                  <a:srgbClr val="6389EB"/>
                </a:solidFill>
                <a:latin typeface="DM Sans Bold"/>
                <a:ea typeface="DM Sans Bold"/>
                <a:cs typeface="DM Sans Bold"/>
                <a:sym typeface="DM Sans Bold"/>
              </a:rPr>
              <a:t>:</a:t>
            </a:r>
            <a:r>
              <a:rPr lang="en-US" b="true" sz="2841">
                <a:solidFill>
                  <a:srgbClr val="FF3131"/>
                </a:solidFill>
                <a:latin typeface="DM Sans Bold"/>
                <a:ea typeface="DM Sans Bold"/>
                <a:cs typeface="DM Sans Bold"/>
                <a:sym typeface="DM Sans Bold"/>
              </a:rPr>
              <a:t> Distance is the strongest fare-correlated feature; everything else is weak — this directly sets up to the next modeling priorities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360774" y="-4703350"/>
            <a:ext cx="25451238" cy="18664057"/>
          </a:xfrm>
          <a:custGeom>
            <a:avLst/>
            <a:gdLst/>
            <a:ahLst/>
            <a:cxnLst/>
            <a:rect r="r" b="b" t="t" l="l"/>
            <a:pathLst>
              <a:path h="18664057" w="25451238">
                <a:moveTo>
                  <a:pt x="0" y="0"/>
                </a:moveTo>
                <a:lnTo>
                  <a:pt x="25451239" y="0"/>
                </a:lnTo>
                <a:lnTo>
                  <a:pt x="25451239" y="18664057"/>
                </a:lnTo>
                <a:lnTo>
                  <a:pt x="0" y="186640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2578" y="464153"/>
            <a:ext cx="17977818" cy="9566062"/>
          </a:xfrm>
          <a:custGeom>
            <a:avLst/>
            <a:gdLst/>
            <a:ahLst/>
            <a:cxnLst/>
            <a:rect r="r" b="b" t="t" l="l"/>
            <a:pathLst>
              <a:path h="9566062" w="17977818">
                <a:moveTo>
                  <a:pt x="0" y="0"/>
                </a:moveTo>
                <a:lnTo>
                  <a:pt x="17977818" y="0"/>
                </a:lnTo>
                <a:lnTo>
                  <a:pt x="17977818" y="9566063"/>
                </a:lnTo>
                <a:lnTo>
                  <a:pt x="0" y="95660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27952" y="6190775"/>
            <a:ext cx="9075208" cy="2617849"/>
          </a:xfrm>
          <a:custGeom>
            <a:avLst/>
            <a:gdLst/>
            <a:ahLst/>
            <a:cxnLst/>
            <a:rect r="r" b="b" t="t" l="l"/>
            <a:pathLst>
              <a:path h="2617849" w="9075208">
                <a:moveTo>
                  <a:pt x="0" y="0"/>
                </a:moveTo>
                <a:lnTo>
                  <a:pt x="9075208" y="0"/>
                </a:lnTo>
                <a:lnTo>
                  <a:pt x="9075208" y="2617849"/>
                </a:lnTo>
                <a:lnTo>
                  <a:pt x="0" y="26178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17875" y="991000"/>
            <a:ext cx="4091464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>
                <a:solidFill>
                  <a:srgbClr val="334157"/>
                </a:solidFill>
                <a:latin typeface="Baloo"/>
                <a:ea typeface="Baloo"/>
                <a:cs typeface="Baloo"/>
                <a:sym typeface="Baloo"/>
              </a:rPr>
              <a:t>Conclu</a:t>
            </a:r>
            <a:r>
              <a:rPr lang="en-US" sz="6400">
                <a:solidFill>
                  <a:srgbClr val="334157"/>
                </a:solidFill>
                <a:latin typeface="Baloo"/>
                <a:ea typeface="Baloo"/>
                <a:cs typeface="Baloo"/>
                <a:sym typeface="Baloo"/>
              </a:rPr>
              <a:t>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4326" y="2300297"/>
            <a:ext cx="15225151" cy="955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The Good news is that 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distance 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is the most feature we will focus on as developers when modeling for fares prediction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7875" y="3598364"/>
            <a:ext cx="12920544" cy="477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1"/>
              </a:lnSpc>
            </a:pPr>
            <a:r>
              <a:rPr lang="en-US" b="true" sz="2841">
                <a:solidFill>
                  <a:srgbClr val="6389EB"/>
                </a:solidFill>
                <a:latin typeface="DM Sans Bold"/>
                <a:ea typeface="DM Sans Bold"/>
                <a:cs typeface="DM Sans Bold"/>
                <a:sym typeface="DM Sans Bold"/>
              </a:rPr>
              <a:t>And one more evidence i found it weird but it helped in solving the case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4326" y="4418603"/>
            <a:ext cx="15225151" cy="955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That 7 PM has the cheapest average fares knowing that it’s the rush hour While 5 AM is the least hour in ride requests but it has the highest fare amounts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7875" y="5530883"/>
            <a:ext cx="15225151" cy="46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FF3131"/>
                </a:solidFill>
                <a:latin typeface="DM Sans"/>
                <a:ea typeface="DM Sans"/>
                <a:cs typeface="DM Sans"/>
                <a:sym typeface="DM Sans"/>
              </a:rPr>
              <a:t>And that’s condradicts with supply and demand famous principle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4273" y="8944737"/>
            <a:ext cx="15225151" cy="5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1"/>
              </a:lnSpc>
            </a:pPr>
            <a:r>
              <a:rPr lang="en-US" sz="3399">
                <a:solidFill>
                  <a:srgbClr val="FF914D"/>
                </a:solidFill>
                <a:latin typeface="DM Sans"/>
                <a:ea typeface="DM Sans"/>
                <a:cs typeface="DM Sans"/>
                <a:sym typeface="DM Sans"/>
              </a:rPr>
              <a:t>But here is the trick , i will show you on the notebook :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79393" y="-6052204"/>
            <a:ext cx="25108519" cy="21605253"/>
          </a:xfrm>
          <a:custGeom>
            <a:avLst/>
            <a:gdLst/>
            <a:ahLst/>
            <a:cxnLst/>
            <a:rect r="r" b="b" t="t" l="l"/>
            <a:pathLst>
              <a:path h="21605253" w="25108519">
                <a:moveTo>
                  <a:pt x="0" y="0"/>
                </a:moveTo>
                <a:lnTo>
                  <a:pt x="25108519" y="0"/>
                </a:lnTo>
                <a:lnTo>
                  <a:pt x="25108519" y="21605253"/>
                </a:lnTo>
                <a:lnTo>
                  <a:pt x="0" y="21605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56424" y="2151989"/>
            <a:ext cx="8713346" cy="1944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>
                <a:solidFill>
                  <a:srgbClr val="334157"/>
                </a:solidFill>
                <a:latin typeface="Baloo"/>
                <a:ea typeface="Baloo"/>
                <a:cs typeface="Baloo"/>
                <a:sym typeface="Baloo"/>
              </a:rPr>
              <a:t>Thanks!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27176" y="4096061"/>
            <a:ext cx="9838897" cy="2493086"/>
            <a:chOff x="0" y="0"/>
            <a:chExt cx="11861597" cy="30056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861600" cy="3005623"/>
            </a:xfrm>
            <a:custGeom>
              <a:avLst/>
              <a:gdLst/>
              <a:ahLst/>
              <a:cxnLst/>
              <a:rect r="r" b="b" t="t" l="l"/>
              <a:pathLst>
                <a:path h="3005623" w="11861600">
                  <a:moveTo>
                    <a:pt x="0" y="0"/>
                  </a:moveTo>
                  <a:lnTo>
                    <a:pt x="11861600" y="0"/>
                  </a:lnTo>
                  <a:lnTo>
                    <a:pt x="11861600" y="3005623"/>
                  </a:lnTo>
                  <a:lnTo>
                    <a:pt x="0" y="300562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931" r="0" b="-2386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11861597" cy="3091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623"/>
                </a:lnSpc>
              </a:pPr>
              <a:r>
                <a:rPr lang="en-US" sz="4799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5CE1E6">
                          <a:alpha val="100000"/>
                        </a:srgbClr>
                      </a:gs>
                    </a:gsLst>
                    <a:lin ang="0"/>
                  </a:gradFill>
                  <a:latin typeface="DM Sans"/>
                  <a:ea typeface="DM Sans"/>
                  <a:cs typeface="DM Sans"/>
                  <a:sym typeface="DM Sans"/>
                </a:rPr>
                <a:t>Do you have any questions?</a:t>
              </a:r>
            </a:p>
            <a:p>
              <a:pPr algn="l">
                <a:lnSpc>
                  <a:spcPts val="4967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969770" y="1905914"/>
            <a:ext cx="6921341" cy="7358720"/>
          </a:xfrm>
          <a:custGeom>
            <a:avLst/>
            <a:gdLst/>
            <a:ahLst/>
            <a:cxnLst/>
            <a:rect r="r" b="b" t="t" l="l"/>
            <a:pathLst>
              <a:path h="7358720" w="6921341">
                <a:moveTo>
                  <a:pt x="0" y="0"/>
                </a:moveTo>
                <a:lnTo>
                  <a:pt x="6921341" y="0"/>
                </a:lnTo>
                <a:lnTo>
                  <a:pt x="6921341" y="7358720"/>
                </a:lnTo>
                <a:lnTo>
                  <a:pt x="0" y="73587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3672" y="7145642"/>
            <a:ext cx="1227008" cy="1227008"/>
          </a:xfrm>
          <a:custGeom>
            <a:avLst/>
            <a:gdLst/>
            <a:ahLst/>
            <a:cxnLst/>
            <a:rect r="r" b="b" t="t" l="l"/>
            <a:pathLst>
              <a:path h="1227008" w="1227008">
                <a:moveTo>
                  <a:pt x="0" y="0"/>
                </a:moveTo>
                <a:lnTo>
                  <a:pt x="1227008" y="0"/>
                </a:lnTo>
                <a:lnTo>
                  <a:pt x="1227008" y="1227008"/>
                </a:lnTo>
                <a:lnTo>
                  <a:pt x="0" y="12270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31591" y="7567005"/>
            <a:ext cx="15225151" cy="46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https://github.com/ammar-abdelghany30/uber-data-analysis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DAHO6h7JDwk</dc:identifier>
  <dcterms:modified xsi:type="dcterms:W3CDTF">2011-08-01T06:04:30Z</dcterms:modified>
  <cp:revision>1</cp:revision>
  <dc:title>Cellula_Task1_presentation.pptx</dc:title>
</cp:coreProperties>
</file>